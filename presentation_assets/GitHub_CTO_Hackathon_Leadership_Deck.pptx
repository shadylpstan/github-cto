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0" d="100"/>
          <a:sy n="80" d="100"/>
        </p:scale>
        <p:origin x="-580" y="-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027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63A"/>
          </a:solidFill>
          <a:ln w="12700">
            <a:solidFill>
              <a:srgbClr val="172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DevFlow CTO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6B8A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Issue-to-PR System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3504" y="1700784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DE9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repo-aware AI workflow that turns GitHub issues into scoped, validated, human-approved pull requests.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branches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2304288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0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07792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07792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index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logs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4425696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4608" y="2926080"/>
            <a:ext cx="1682496" cy="1115568"/>
          </a:xfrm>
          <a:prstGeom prst="roundRect">
            <a:avLst/>
          </a:prstGeom>
          <a:solidFill>
            <a:srgbClr val="16B8AE"/>
          </a:solidFill>
          <a:ln w="10160">
            <a:solidFill>
              <a:srgbClr val="16B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0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in isolated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547104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86016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50608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150608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parsers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agent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loop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8668512" y="3493008"/>
            <a:ext cx="438912" cy="9144"/>
          </a:xfrm>
          <a:prstGeom prst="line">
            <a:avLst/>
          </a:prstGeom>
          <a:noFill/>
          <a:ln w="17780">
            <a:solidFill>
              <a:srgbClr val="DDE9F8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07424" y="2926080"/>
            <a:ext cx="1682496" cy="1115568"/>
          </a:xfrm>
          <a:prstGeom prst="roundRect">
            <a:avLst/>
          </a:prstGeom>
          <a:solidFill>
            <a:srgbClr val="223650"/>
          </a:solidFill>
          <a:ln w="10160">
            <a:solidFill>
              <a:srgbClr val="4153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72016" y="3054096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272016" y="336499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proposal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21792" y="4814912"/>
            <a:ext cx="6263640" cy="493776"/>
          </a:xfrm>
          <a:prstGeom prst="roundRect">
            <a:avLst/>
          </a:prstGeom>
          <a:solidFill>
            <a:srgbClr val="17394A"/>
          </a:solidFill>
          <a:ln w="10160">
            <a:solidFill>
              <a:srgbClr val="16B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6384" y="4864608"/>
            <a:ext cx="5952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lens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" y="5175504"/>
            <a:ext cx="5952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engineering drag, better review quality, safer AI adoption.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58368" y="54681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promise: show a normal issue becoming a reviewable PR without AI directly writing to GitHub.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C7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C7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1"/>
          <p:cNvSpPr/>
          <p:nvPr/>
        </p:nvSpPr>
        <p:spPr>
          <a:xfrm>
            <a:off x="10040112" y="1737360"/>
            <a:ext cx="1508760" cy="694944"/>
          </a:xfrm>
          <a:prstGeom prst="roundRect">
            <a:avLst/>
          </a:prstGeom>
          <a:solidFill>
            <a:srgbClr val="FCEDED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DevFlow CTO Application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flow from code repository issue intake to governed PR creation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2148840" cy="5285232"/>
          </a:xfrm>
          <a:prstGeom prst="roundRect">
            <a:avLst/>
          </a:prstGeom>
          <a:solidFill>
            <a:srgbClr val="F8FBFF"/>
          </a:solidFill>
          <a:ln w="1143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Experience Layer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2724912" y="1097280"/>
            <a:ext cx="2148840" cy="5285232"/>
          </a:xfrm>
          <a:prstGeom prst="roundRect">
            <a:avLst/>
          </a:prstGeom>
          <a:solidFill>
            <a:srgbClr val="F8FFFD"/>
          </a:solidFill>
          <a:ln w="1143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8950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</a:t>
            </a:r>
            <a:r>
              <a:rPr lang="en-US" sz="1060" b="1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</a:t>
            </a: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5102352" y="1097280"/>
            <a:ext cx="2148840" cy="5285232"/>
          </a:xfrm>
          <a:prstGeom prst="roundRect">
            <a:avLst/>
          </a:prstGeom>
          <a:solidFill>
            <a:srgbClr val="FAFFFB"/>
          </a:solidFill>
          <a:ln w="1143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6694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Repository Intelligence</a:t>
            </a:r>
            <a:endParaRPr lang="en-US" sz="1060" dirty="0"/>
          </a:p>
        </p:txBody>
      </p:sp>
      <p:sp>
        <p:nvSpPr>
          <p:cNvPr id="11" name="Shape 9"/>
          <p:cNvSpPr/>
          <p:nvPr/>
        </p:nvSpPr>
        <p:spPr>
          <a:xfrm>
            <a:off x="7479792" y="1097280"/>
            <a:ext cx="2148840" cy="5285232"/>
          </a:xfrm>
          <a:prstGeom prst="roundRect">
            <a:avLst/>
          </a:prstGeom>
          <a:solidFill>
            <a:srgbClr val="FFF9F0"/>
          </a:solidFill>
          <a:ln w="1143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44384" y="1316736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Agent Runtime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9857232" y="1097280"/>
            <a:ext cx="1965960" cy="5285232"/>
          </a:xfrm>
          <a:prstGeom prst="roundRect">
            <a:avLst/>
          </a:prstGeom>
          <a:solidFill>
            <a:srgbClr val="F9FAFE"/>
          </a:solidFill>
          <a:ln w="1143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21824" y="1316736"/>
            <a:ext cx="1709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Governance + Output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530352" y="1737360"/>
            <a:ext cx="1783080" cy="694944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0352" y="1737360"/>
            <a:ext cx="73152" cy="69494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94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Issues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94944" y="2041103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bug/enhancement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comments + priority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30352" y="269748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0352" y="2697480"/>
            <a:ext cx="73152" cy="694944"/>
          </a:xfrm>
          <a:prstGeom prst="rect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9494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Controls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94944" y="3001223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branch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target branch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30352" y="365760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0352" y="3657600"/>
            <a:ext cx="73152" cy="69494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94944" y="378561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Screens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94944" y="3961343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status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diff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files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907792" y="1737360"/>
            <a:ext cx="1783080" cy="694944"/>
          </a:xfrm>
          <a:prstGeom prst="roundRect">
            <a:avLst/>
          </a:prstGeom>
          <a:solidFill>
            <a:srgbClr val="E7F7F5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907792" y="1737360"/>
            <a:ext cx="73152" cy="694944"/>
          </a:xfrm>
          <a:prstGeom prst="rect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7238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Routes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3072384" y="2009295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/issues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/aider-run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/proposals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916936" y="265684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907792" y="2697480"/>
            <a:ext cx="73152" cy="69494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7238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Registry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3072384" y="2977367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async jobs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polling JSON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visible logs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907792" y="365760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907792" y="3657600"/>
            <a:ext cx="73152" cy="69494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072384" y="378561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Store</a:t>
            </a:r>
            <a:endParaRPr lang="en-US" sz="920" dirty="0"/>
          </a:p>
        </p:txBody>
      </p:sp>
      <p:sp>
        <p:nvSpPr>
          <p:cNvPr id="38" name="Text 36"/>
          <p:cNvSpPr/>
          <p:nvPr/>
        </p:nvSpPr>
        <p:spPr>
          <a:xfrm>
            <a:off x="3072384" y="395935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snapshot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summary/test plan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state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285232" y="1737360"/>
            <a:ext cx="1783080" cy="694944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85232" y="1737360"/>
            <a:ext cx="73152" cy="69494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4982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Index</a:t>
            </a:r>
            <a:endParaRPr lang="en-US" sz="920" dirty="0"/>
          </a:p>
        </p:txBody>
      </p:sp>
      <p:sp>
        <p:nvSpPr>
          <p:cNvPr id="42" name="Text 40"/>
          <p:cNvSpPr/>
          <p:nvPr/>
        </p:nvSpPr>
        <p:spPr>
          <a:xfrm>
            <a:off x="5449824" y="2049051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 chunks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+ size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context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5285232" y="269748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285232" y="2697480"/>
            <a:ext cx="73152" cy="694944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4982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Signals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5449824" y="2977367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routes, imports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forms, ids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ownership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285232" y="3657600"/>
            <a:ext cx="178308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285232" y="3657600"/>
            <a:ext cx="73152" cy="694944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449824" y="378561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Memory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5449824" y="394544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lessons from rejects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observations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guidance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7662672" y="1737360"/>
            <a:ext cx="1783080" cy="694944"/>
          </a:xfrm>
          <a:prstGeom prst="roundRect">
            <a:avLst/>
          </a:prstGeom>
          <a:solidFill>
            <a:srgbClr val="F0EE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662672" y="1737360"/>
            <a:ext cx="73152" cy="694944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827264" y="186537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Agent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7827264" y="2025201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files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pack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7626891" y="2697480"/>
            <a:ext cx="1783080" cy="694944"/>
          </a:xfrm>
          <a:prstGeom prst="roundRect">
            <a:avLst/>
          </a:prstGeom>
          <a:solidFill>
            <a:srgbClr val="FFF3E2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662672" y="2697480"/>
            <a:ext cx="73152" cy="694944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827264" y="28254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CLI</a:t>
            </a:r>
            <a:endParaRPr lang="en-US" sz="920" dirty="0"/>
          </a:p>
        </p:txBody>
      </p:sp>
      <p:sp>
        <p:nvSpPr>
          <p:cNvPr id="58" name="Text 56"/>
          <p:cNvSpPr/>
          <p:nvPr/>
        </p:nvSpPr>
        <p:spPr>
          <a:xfrm>
            <a:off x="7827264" y="2985321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clone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 files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diff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7470648" y="3653228"/>
            <a:ext cx="1783080" cy="722376"/>
          </a:xfrm>
          <a:prstGeom prst="roundRect">
            <a:avLst/>
          </a:prstGeom>
          <a:noFill/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7662672" y="3657600"/>
            <a:ext cx="73152" cy="694944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10259568" y="1845696"/>
            <a:ext cx="1472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Reviewer Agent</a:t>
            </a:r>
            <a:endParaRPr lang="en-US" sz="920" dirty="0"/>
          </a:p>
        </p:txBody>
      </p:sp>
      <p:sp>
        <p:nvSpPr>
          <p:cNvPr id="62" name="Text 60"/>
          <p:cNvSpPr/>
          <p:nvPr/>
        </p:nvSpPr>
        <p:spPr>
          <a:xfrm>
            <a:off x="10259568" y="2036730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alignment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files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 review</a:t>
            </a:r>
            <a:endParaRPr lang="en-US" sz="780" dirty="0"/>
          </a:p>
        </p:txBody>
      </p:sp>
      <p:sp>
        <p:nvSpPr>
          <p:cNvPr id="64" name="Shape 62"/>
          <p:cNvSpPr/>
          <p:nvPr/>
        </p:nvSpPr>
        <p:spPr>
          <a:xfrm>
            <a:off x="10040112" y="1737360"/>
            <a:ext cx="73152" cy="694944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827264" y="3785616"/>
            <a:ext cx="1197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827264" y="3972873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AST/Jinja/JSON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 patterns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0040112" y="2697480"/>
            <a:ext cx="1508760" cy="694944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10040112" y="2697480"/>
            <a:ext cx="73152" cy="69494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10204704" y="2825496"/>
            <a:ext cx="1197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Gate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204704" y="2977368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 review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final code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040112" y="3657600"/>
            <a:ext cx="1508760" cy="694944"/>
          </a:xfrm>
          <a:prstGeom prst="roundRect">
            <a:avLst/>
          </a:prstGeom>
          <a:solidFill>
            <a:srgbClr val="EEF3F8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10040112" y="3657600"/>
            <a:ext cx="73152" cy="694944"/>
          </a:xfrm>
          <a:prstGeom prst="rect">
            <a:avLst/>
          </a:prstGeom>
          <a:solidFill>
            <a:srgbClr val="17263A"/>
          </a:solidFill>
          <a:ln w="12700">
            <a:solidFill>
              <a:srgbClr val="172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10204704" y="3785616"/>
            <a:ext cx="11978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PR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204704" y="3969293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branch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base</a:t>
            </a:r>
            <a:endParaRPr lang="en-US" sz="780" dirty="0"/>
          </a:p>
          <a:p>
            <a:pPr marL="0" indent="0" algn="l">
              <a:buNone/>
            </a:pPr>
            <a:r>
              <a:rPr lang="en-US" sz="7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auto-merge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2313432" y="2084832"/>
            <a:ext cx="594360" cy="9144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690872" y="2084832"/>
            <a:ext cx="594360" cy="9144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7068312" y="2084832"/>
            <a:ext cx="594360" cy="9144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 flipV="1">
            <a:off x="9275064" y="2093976"/>
            <a:ext cx="765048" cy="1901952"/>
          </a:xfrm>
          <a:prstGeom prst="line">
            <a:avLst/>
          </a:prstGeom>
          <a:noFill/>
          <a:ln w="16510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7068312" y="3044952"/>
            <a:ext cx="594360" cy="9144"/>
          </a:xfrm>
          <a:prstGeom prst="line">
            <a:avLst/>
          </a:prstGeom>
          <a:noFill/>
          <a:ln w="15875">
            <a:solidFill>
              <a:srgbClr val="EC972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0789920" y="2432304"/>
            <a:ext cx="9144" cy="265176"/>
          </a:xfrm>
          <a:prstGeom prst="line">
            <a:avLst/>
          </a:prstGeom>
          <a:noFill/>
          <a:ln w="13335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10789920" y="3392424"/>
            <a:ext cx="9144" cy="265176"/>
          </a:xfrm>
          <a:prstGeom prst="line">
            <a:avLst/>
          </a:prstGeom>
          <a:noFill/>
          <a:ln w="13335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8518431" y="3429000"/>
            <a:ext cx="0" cy="224223"/>
          </a:xfrm>
          <a:prstGeom prst="line">
            <a:avLst/>
          </a:prstGeom>
          <a:noFill/>
          <a:ln w="12700">
            <a:solidFill>
              <a:srgbClr val="D95858"/>
            </a:solidFill>
            <a:prstDash val="solid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 flipV="1">
            <a:off x="9120146" y="2041103"/>
            <a:ext cx="919965" cy="656376"/>
          </a:xfrm>
          <a:prstGeom prst="line">
            <a:avLst/>
          </a:prstGeom>
          <a:noFill/>
          <a:ln w="12700">
            <a:solidFill>
              <a:srgbClr val="D95858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445752" y="256032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D95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feedback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5760720" y="4773168"/>
            <a:ext cx="2240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30352" y="4956048"/>
            <a:ext cx="11018520" cy="566928"/>
          </a:xfrm>
          <a:prstGeom prst="roundRect">
            <a:avLst/>
          </a:prstGeom>
          <a:solidFill>
            <a:srgbClr val="17263A"/>
          </a:solidFill>
          <a:ln w="10160">
            <a:solidFill>
              <a:srgbClr val="172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694944" y="5084064"/>
            <a:ext cx="10707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control principle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694944" y="5394960"/>
            <a:ext cx="10707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discover, plan, edit, and review. GitHub only changes after validators pass and a human approves the proposal.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94" name="Text 83">
            <a:extLst>
              <a:ext uri="{FF2B5EF4-FFF2-40B4-BE49-F238E27FC236}">
                <a16:creationId xmlns:a16="http://schemas.microsoft.com/office/drawing/2014/main" id="{CB140DED-DF25-4AC6-9CDC-799A28FE4A7A}"/>
              </a:ext>
            </a:extLst>
          </p:cNvPr>
          <p:cNvSpPr/>
          <p:nvPr/>
        </p:nvSpPr>
        <p:spPr>
          <a:xfrm>
            <a:off x="10876788" y="24917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B050"/>
                </a:solidFill>
                <a:latin typeface="Aptos" pitchFamily="34" charset="0"/>
              </a:rPr>
              <a:t>Validated</a:t>
            </a:r>
            <a:endParaRPr lang="en-US" sz="750" dirty="0">
              <a:solidFill>
                <a:srgbClr val="00B050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0EEBA6E-8934-C030-ABF0-9C291EA20F43}"/>
              </a:ext>
            </a:extLst>
          </p:cNvPr>
          <p:cNvSpPr txBox="1"/>
          <p:nvPr/>
        </p:nvSpPr>
        <p:spPr>
          <a:xfrm>
            <a:off x="8509923" y="3420412"/>
            <a:ext cx="978806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rgbClr val="FF0000"/>
                </a:solidFill>
              </a:rPr>
              <a:t>Validation </a:t>
            </a:r>
            <a:r>
              <a:rPr lang="en-US" sz="750" dirty="0">
                <a:solidFill>
                  <a:srgbClr val="D95858"/>
                </a:solidFill>
                <a:latin typeface="Aptos" pitchFamily="34" charset="0"/>
              </a:rPr>
              <a:t>rejected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Each Component Does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ownership makes the system explainable to judges, engineers, and leaders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11155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2743200" y="11155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the application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6629400" y="111556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84048" y="1444752"/>
            <a:ext cx="11411712" cy="612648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3E7B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Flask UI + API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2743200" y="156362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the dashboard, issue detail, Aider job page, and proposal review screen.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6629400" y="15636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the experience familiar: issue -&gt; diff -&gt; approve PR.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384048" y="2212848"/>
            <a:ext cx="11411712" cy="6126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36829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17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Index</a:t>
            </a:r>
            <a:endParaRPr lang="en-US" sz="93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Caches file chunks, metadata, route/template/import signals, and branch-specific context.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6629400" y="233172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AI work with large repos without dumping every file into the prompt.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84048" y="2980944"/>
            <a:ext cx="11411712" cy="612648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136392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6558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Agent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2743200" y="309981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the issue, selected files, logs, git state, and memory before Aider edits.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6629400" y="30998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file selection and gives Aider a grounded implementation plan.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384048" y="3749040"/>
            <a:ext cx="11411712" cy="6126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90448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EC9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Backend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2743200" y="386791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Clones the read branch, edits only selected context, and returns a captured git diff.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6629400" y="386791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AI code generation isolated and reviewable.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384048" y="4517136"/>
            <a:ext cx="11411712" cy="612648"/>
          </a:xfrm>
          <a:prstGeom prst="roundRect">
            <a:avLst/>
          </a:prstGeom>
          <a:solidFill>
            <a:srgbClr val="F9FBFE"/>
          </a:solidFill>
          <a:ln w="635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672584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D95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 + Reviewer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2743200" y="463600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 code/templates and ask a second agent if the patch solves the issue.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6629400" y="46360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Blocks broken or irrelevant changes and creates retry guidance.</a:t>
            </a:r>
            <a:endParaRPr lang="en-US" sz="840" dirty="0"/>
          </a:p>
        </p:txBody>
      </p:sp>
      <p:sp>
        <p:nvSpPr>
          <p:cNvPr id="28" name="Shape 26"/>
          <p:cNvSpPr/>
          <p:nvPr/>
        </p:nvSpPr>
        <p:spPr>
          <a:xfrm>
            <a:off x="384048" y="5285232"/>
            <a:ext cx="11411712" cy="612648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544068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78E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+ PR Layer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2743200" y="540410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summary, test plan, diffs, logs, warnings, and final editable file contents.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6629400" y="54041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remains the only path to GitHub PR creation.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Loop: How the System Behaves Like a Careful Engineer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Observe, plan, edit, validate, review, retry, and remember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481328" cy="91440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73152" cy="914400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21792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+ comments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+ git state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38528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95728" y="1874520"/>
            <a:ext cx="1481328" cy="914400"/>
          </a:xfrm>
          <a:prstGeom prst="roundRect">
            <a:avLst/>
          </a:prstGeom>
          <a:solidFill>
            <a:srgbClr val="F0EE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95728" y="1874520"/>
            <a:ext cx="73152" cy="914400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560320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scope, affected files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approach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77056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34256" y="1874520"/>
            <a:ext cx="1481328" cy="914400"/>
          </a:xfrm>
          <a:prstGeom prst="roundRect">
            <a:avLst/>
          </a:prstGeom>
          <a:solidFill>
            <a:srgbClr val="FFF3E2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34256" y="1874520"/>
            <a:ext cx="73152" cy="914400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98848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4498848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CLI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isolated workspace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815584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72784" y="1874520"/>
            <a:ext cx="1481328" cy="914400"/>
          </a:xfrm>
          <a:prstGeom prst="roundRect">
            <a:avLst/>
          </a:prstGeom>
          <a:solidFill>
            <a:srgbClr val="E7F7F5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72784" y="1874520"/>
            <a:ext cx="73152" cy="914400"/>
          </a:xfrm>
          <a:prstGeom prst="rect">
            <a:avLst/>
          </a:prstGeom>
          <a:solidFill>
            <a:srgbClr val="078E89"/>
          </a:solidFill>
          <a:ln w="12700">
            <a:solidFill>
              <a:srgbClr val="078E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37376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437376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syntax/template checks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unsafe-pattern checks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754112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11312" y="1874520"/>
            <a:ext cx="1481328" cy="914400"/>
          </a:xfrm>
          <a:prstGeom prst="roundRect">
            <a:avLst/>
          </a:prstGeom>
          <a:solidFill>
            <a:srgbClr val="FCEDED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11312" y="1874520"/>
            <a:ext cx="73152" cy="914400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75904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8375904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patch solve issue?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missed dependency?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692640" y="2331720"/>
            <a:ext cx="457200" cy="9144"/>
          </a:xfrm>
          <a:prstGeom prst="line">
            <a:avLst/>
          </a:prstGeom>
          <a:noFill/>
          <a:ln w="14605">
            <a:solidFill>
              <a:srgbClr val="1726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149840" y="1874520"/>
            <a:ext cx="1481328" cy="91440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149840" y="1874520"/>
            <a:ext cx="73152" cy="914400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14432" y="2002536"/>
            <a:ext cx="11704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10314432" y="23134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lessons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next run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74920" y="2999232"/>
            <a:ext cx="3840480" cy="9144"/>
          </a:xfrm>
          <a:prstGeom prst="line">
            <a:avLst/>
          </a:prstGeom>
          <a:noFill/>
          <a:ln w="13335">
            <a:solidFill>
              <a:srgbClr val="D95858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89320" y="31272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D958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feedback to Aider</a:t>
            </a:r>
            <a:endParaRPr lang="en-US" sz="810" dirty="0"/>
          </a:p>
        </p:txBody>
      </p:sp>
      <p:sp>
        <p:nvSpPr>
          <p:cNvPr id="36" name="Shape 34"/>
          <p:cNvSpPr/>
          <p:nvPr/>
        </p:nvSpPr>
        <p:spPr>
          <a:xfrm>
            <a:off x="2926080" y="3401568"/>
            <a:ext cx="7955280" cy="9144"/>
          </a:xfrm>
          <a:prstGeom prst="line">
            <a:avLst/>
          </a:prstGeom>
          <a:noFill/>
          <a:ln w="13335">
            <a:solidFill>
              <a:srgbClr val="178C61"/>
            </a:solidFill>
            <a:prstDash val="dash"/>
            <a:head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17720" y="35478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10" dirty="0">
                <a:solidFill>
                  <a:srgbClr val="17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enriches next planning cycle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640080" y="4315968"/>
            <a:ext cx="3383280" cy="914400"/>
          </a:xfrm>
          <a:prstGeom prst="roundRect">
            <a:avLst/>
          </a:prstGeom>
          <a:solidFill>
            <a:srgbClr val="EAF7F0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0080" y="4315968"/>
            <a:ext cx="73152" cy="914400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04672" y="4443984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condition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804672" y="47548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 pass, reviewer accepts issue alignment, and the proposal is understandable to a human reviewer.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407408" y="4315968"/>
            <a:ext cx="3383280" cy="914400"/>
          </a:xfrm>
          <a:prstGeom prst="roundRect">
            <a:avLst/>
          </a:prstGeom>
          <a:solidFill>
            <a:srgbClr val="FCEDED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407408" y="4315968"/>
            <a:ext cx="73152" cy="914400"/>
          </a:xfrm>
          <a:prstGeom prst="rect">
            <a:avLst/>
          </a:prstGeom>
          <a:solidFill>
            <a:srgbClr val="D95858"/>
          </a:solidFill>
          <a:ln w="12700">
            <a:solidFill>
              <a:srgbClr val="D958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0" y="4443984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condition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4572000" y="47548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patch is wrong, feedback returns to Aider with exact reasons and affected files.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8174736" y="4315968"/>
            <a:ext cx="3383280" cy="914400"/>
          </a:xfrm>
          <a:prstGeom prst="roundRect">
            <a:avLst/>
          </a:prstGeom>
          <a:solidFill>
            <a:srgbClr val="EAF1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174736" y="4315968"/>
            <a:ext cx="73152" cy="914400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39328" y="4443984"/>
            <a:ext cx="3072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control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8339328" y="475488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code remains a proposal. GitHub changes only after review and approval.</a:t>
            </a:r>
            <a:endParaRPr lang="en-US" sz="830" dirty="0"/>
          </a:p>
        </p:txBody>
      </p:sp>
      <p:sp>
        <p:nvSpPr>
          <p:cNvPr id="50" name="Text 48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5603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Story for Judges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93192" y="71323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simple, credible path through the product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94360" y="1307592"/>
            <a:ext cx="310896" cy="310896"/>
          </a:xfrm>
          <a:prstGeom prst="ellipse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39446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1024128" y="1234440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4128" y="1234440"/>
            <a:ext cx="73152" cy="557784"/>
          </a:xfrm>
          <a:prstGeom prst="rect">
            <a:avLst/>
          </a:prstGeom>
          <a:solidFill>
            <a:srgbClr val="3E7BEF"/>
          </a:solidFill>
          <a:ln w="12700">
            <a:solidFill>
              <a:srgbClr val="3E7B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362456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with a real GitHub issue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1188720" y="1673352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normal tester language, not a prompt engineered for the AI.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594360" y="2112264"/>
            <a:ext cx="310896" cy="310896"/>
          </a:xfrm>
          <a:prstGeom prst="ellipse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" y="2199132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1024128" y="2039112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4128" y="2039112"/>
            <a:ext cx="73152" cy="557784"/>
          </a:xfrm>
          <a:prstGeom prst="rect">
            <a:avLst/>
          </a:prstGeom>
          <a:solidFill>
            <a:srgbClr val="16B8AE"/>
          </a:solidFill>
          <a:ln w="12700">
            <a:solidFill>
              <a:srgbClr val="16B8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88720" y="2167128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Show context selection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1188720" y="2478024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app chose files: routes, templates, imports, styles, and repo index evidence.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94360" y="2916936"/>
            <a:ext cx="310896" cy="310896"/>
          </a:xfrm>
          <a:prstGeom prst="ellipse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300380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1024128" y="2843784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24128" y="2843784"/>
            <a:ext cx="73152" cy="557784"/>
          </a:xfrm>
          <a:prstGeom prst="rect">
            <a:avLst/>
          </a:prstGeom>
          <a:solidFill>
            <a:srgbClr val="EC972D"/>
          </a:solidFill>
          <a:ln w="12700">
            <a:solidFill>
              <a:srgbClr val="EC97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88720" y="2971800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Run the agent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1188720" y="3282696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Aider edits an isolated clone while the job page shows concise status and reviewer logs.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594360" y="3721608"/>
            <a:ext cx="310896" cy="310896"/>
          </a:xfrm>
          <a:prstGeom prst="ellipse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" y="3808476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1024128" y="3648456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24128" y="3648456"/>
            <a:ext cx="73152" cy="557784"/>
          </a:xfrm>
          <a:prstGeom prst="rect">
            <a:avLst/>
          </a:prstGeom>
          <a:solidFill>
            <a:srgbClr val="6558F5"/>
          </a:solidFill>
          <a:ln w="12700">
            <a:solidFill>
              <a:srgbClr val="6558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88720" y="3776472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Review the proposal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1188720" y="4087368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the diff, validation warnings, run timeline, summary, and test plan.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94360" y="4526280"/>
            <a:ext cx="310896" cy="310896"/>
          </a:xfrm>
          <a:prstGeom prst="ellipse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088" y="4613148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1024128" y="4453128"/>
            <a:ext cx="10241280" cy="5577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024128" y="4453128"/>
            <a:ext cx="73152" cy="557784"/>
          </a:xfrm>
          <a:prstGeom prst="rect">
            <a:avLst/>
          </a:prstGeom>
          <a:solidFill>
            <a:srgbClr val="178C61"/>
          </a:solidFill>
          <a:ln w="12700">
            <a:solidFill>
              <a:srgbClr val="17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88720" y="4581144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Approve only if sane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1188720" y="4892040"/>
            <a:ext cx="9930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4E6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 button is a control point, not a formality. The human still owns the merge path.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1024128" y="5468112"/>
            <a:ext cx="10241280" cy="731520"/>
          </a:xfrm>
          <a:prstGeom prst="roundRect">
            <a:avLst/>
          </a:prstGeom>
          <a:solidFill>
            <a:srgbClr val="17263A"/>
          </a:solidFill>
          <a:ln w="10160">
            <a:solidFill>
              <a:srgbClr val="1726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88720" y="5596128"/>
            <a:ext cx="9930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demo close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1188720" y="5907024"/>
            <a:ext cx="9930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not an auto-coding toy. It is a controlled engineering workflow that makes AI useful inside existing GitHub habits.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384048" y="6528816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DevFlow CTO | Hackathon demo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1631168" y="6528816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7687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804</Words>
  <Application>Microsoft Office PowerPoint</Application>
  <PresentationFormat>Widescreen</PresentationFormat>
  <Paragraphs>177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GitHub CTO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CTO: Agentic Issue-to-PR System</dc:title>
  <dc:subject>Hackathon leadership demo deck</dc:subject>
  <dc:creator>GitHub CTO</dc:creator>
  <cp:lastModifiedBy>Deepankar Dey</cp:lastModifiedBy>
  <cp:revision>9</cp:revision>
  <dcterms:created xsi:type="dcterms:W3CDTF">2026-06-01T12:25:05Z</dcterms:created>
  <dcterms:modified xsi:type="dcterms:W3CDTF">2026-06-01T13:37:00Z</dcterms:modified>
</cp:coreProperties>
</file>