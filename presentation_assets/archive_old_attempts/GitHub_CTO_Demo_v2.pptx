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6459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Agentic GitHub CTO War Room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880" y="621792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issues become scoped, validated, human-approved pull requests through repo-aware agent orchestration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686800" y="164592"/>
            <a:ext cx="2971800" cy="292608"/>
          </a:xfrm>
          <a:prstGeom prst="roundRect">
            <a:avLst/>
          </a:prstGeom>
          <a:solidFill>
            <a:srgbClr val="EEF3FA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96528" y="246888"/>
            <a:ext cx="2752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connectors: Jira · ADO · CI/CD · Observability · Security Scanners</a:t>
            </a:r>
            <a:endParaRPr lang="en-US" sz="67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Inputs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457200" y="1307592"/>
            <a:ext cx="1627632" cy="786384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07592"/>
            <a:ext cx="54864" cy="786384"/>
          </a:xfrm>
          <a:prstGeom prst="rect">
            <a:avLst/>
          </a:prstGeom>
          <a:solidFill>
            <a:srgbClr val="3E7BEF"/>
          </a:solidFill>
          <a:ln w="12700">
            <a:solidFill>
              <a:srgbClr val="3E7B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14447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Issue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603504" y="1709928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or enhancement</a:t>
            </a:r>
            <a:endParaRPr lang="en-US" sz="690" dirty="0"/>
          </a:p>
          <a:p>
            <a:pPr algn="l" indent="0" marL="0">
              <a:buNone/>
            </a:pPr>
            <a:r>
              <a:rPr lang="en-US" sz="69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intent</a:t>
            </a:r>
            <a:endParaRPr lang="en-US" sz="690" dirty="0"/>
          </a:p>
        </p:txBody>
      </p:sp>
      <p:sp>
        <p:nvSpPr>
          <p:cNvPr id="12" name="Shape 10"/>
          <p:cNvSpPr/>
          <p:nvPr/>
        </p:nvSpPr>
        <p:spPr>
          <a:xfrm>
            <a:off x="2286000" y="1307592"/>
            <a:ext cx="1627632" cy="786384"/>
          </a:xfrm>
          <a:prstGeom prst="roundRect">
            <a:avLst/>
          </a:prstGeom>
          <a:solidFill>
            <a:srgbClr val="E9F6E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0" y="1307592"/>
            <a:ext cx="54864" cy="786384"/>
          </a:xfrm>
          <a:prstGeom prst="rect">
            <a:avLst/>
          </a:prstGeom>
          <a:solidFill>
            <a:srgbClr val="16845D"/>
          </a:solidFill>
          <a:ln w="12700">
            <a:solidFill>
              <a:srgbClr val="1684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32304" y="14447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+ Branch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2432304" y="1709928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branch</a:t>
            </a:r>
            <a:endParaRPr lang="en-US" sz="690" dirty="0"/>
          </a:p>
          <a:p>
            <a:pPr algn="l" indent="0" marL="0">
              <a:buNone/>
            </a:pPr>
            <a:r>
              <a:rPr lang="en-US" sz="69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 target branch</a:t>
            </a:r>
            <a:endParaRPr lang="en-US" sz="690" dirty="0"/>
          </a:p>
        </p:txBody>
      </p:sp>
      <p:sp>
        <p:nvSpPr>
          <p:cNvPr id="16" name="Shape 14"/>
          <p:cNvSpPr/>
          <p:nvPr/>
        </p:nvSpPr>
        <p:spPr>
          <a:xfrm>
            <a:off x="4114800" y="1307592"/>
            <a:ext cx="1627632" cy="786384"/>
          </a:xfrm>
          <a:prstGeom prst="roundRect">
            <a:avLst/>
          </a:prstGeom>
          <a:solidFill>
            <a:srgbClr val="FFF4E4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0" y="1307592"/>
            <a:ext cx="54864" cy="786384"/>
          </a:xfrm>
          <a:prstGeom prst="rect">
            <a:avLst/>
          </a:prstGeom>
          <a:solidFill>
            <a:srgbClr val="E9952F"/>
          </a:solidFill>
          <a:ln w="12700">
            <a:solidFill>
              <a:srgbClr val="E995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61104" y="14447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Signals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261104" y="1709928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Logs, git state</a:t>
            </a:r>
            <a:endParaRPr lang="en-US" sz="690" dirty="0"/>
          </a:p>
          <a:p>
            <a:pPr algn="l" indent="0" marL="0">
              <a:buNone/>
            </a:pPr>
            <a:r>
              <a:rPr lang="en-US" sz="69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 failures</a:t>
            </a:r>
            <a:endParaRPr lang="en-US" sz="690" dirty="0"/>
          </a:p>
        </p:txBody>
      </p:sp>
      <p:sp>
        <p:nvSpPr>
          <p:cNvPr id="20" name="Shape 18"/>
          <p:cNvSpPr/>
          <p:nvPr/>
        </p:nvSpPr>
        <p:spPr>
          <a:xfrm>
            <a:off x="5943600" y="1307592"/>
            <a:ext cx="1783080" cy="786384"/>
          </a:xfrm>
          <a:prstGeom prst="roundRect">
            <a:avLst/>
          </a:prstGeom>
          <a:solidFill>
            <a:srgbClr val="203149"/>
          </a:solidFill>
          <a:ln w="10160">
            <a:solidFill>
              <a:srgbClr val="2031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9904" y="1444752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UI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89904" y="170992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E9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files</a:t>
            </a:r>
            <a:endParaRPr lang="en-US" sz="680" dirty="0"/>
          </a:p>
          <a:p>
            <a:pPr algn="l" indent="0" marL="0">
              <a:buNone/>
            </a:pPr>
            <a:r>
              <a:rPr lang="en-US" sz="680" dirty="0">
                <a:solidFill>
                  <a:srgbClr val="E9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diffs</a:t>
            </a:r>
            <a:endParaRPr lang="en-US" sz="680" dirty="0"/>
          </a:p>
          <a:p>
            <a:pPr algn="l" indent="0" marL="0">
              <a:buNone/>
            </a:pPr>
            <a:r>
              <a:rPr lang="en-US" sz="680" dirty="0">
                <a:solidFill>
                  <a:srgbClr val="E9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PR only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8275320" y="1307592"/>
            <a:ext cx="1920240" cy="786384"/>
          </a:xfrm>
          <a:prstGeom prst="roundRect">
            <a:avLst/>
          </a:prstGeom>
          <a:solidFill>
            <a:srgbClr val="18B7AD"/>
          </a:solidFill>
          <a:ln w="10160">
            <a:solidFill>
              <a:srgbClr val="18B7A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21624" y="144475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Flask API Gateway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21624" y="170992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E9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/issues</a:t>
            </a:r>
            <a:endParaRPr lang="en-US" sz="680" dirty="0"/>
          </a:p>
          <a:p>
            <a:pPr algn="l" indent="0" marL="0">
              <a:buNone/>
            </a:pPr>
            <a:r>
              <a:rPr lang="en-US" sz="680" dirty="0">
                <a:solidFill>
                  <a:srgbClr val="E9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/aider-run</a:t>
            </a:r>
            <a:endParaRPr lang="en-US" sz="680" dirty="0"/>
          </a:p>
          <a:p>
            <a:pPr algn="l" indent="0" marL="0">
              <a:buNone/>
            </a:pPr>
            <a:r>
              <a:rPr lang="en-US" sz="680" dirty="0">
                <a:solidFill>
                  <a:srgbClr val="E9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/proposals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2084832" y="1700784"/>
            <a:ext cx="201168" cy="9144"/>
          </a:xfrm>
          <a:prstGeom prst="line">
            <a:avLst/>
          </a:prstGeom>
          <a:noFill/>
          <a:ln w="20320">
            <a:solidFill>
              <a:srgbClr val="20314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913632" y="1700784"/>
            <a:ext cx="201168" cy="9144"/>
          </a:xfrm>
          <a:prstGeom prst="line">
            <a:avLst/>
          </a:prstGeom>
          <a:noFill/>
          <a:ln w="20320">
            <a:solidFill>
              <a:srgbClr val="20314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742432" y="1700784"/>
            <a:ext cx="201168" cy="9144"/>
          </a:xfrm>
          <a:prstGeom prst="line">
            <a:avLst/>
          </a:prstGeom>
          <a:noFill/>
          <a:ln w="20320">
            <a:solidFill>
              <a:srgbClr val="20314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726680" y="1700784"/>
            <a:ext cx="548640" cy="9144"/>
          </a:xfrm>
          <a:prstGeom prst="line">
            <a:avLst/>
          </a:prstGeom>
          <a:noFill/>
          <a:ln w="21590">
            <a:solidFill>
              <a:srgbClr val="07948D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457200" y="24871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Repository Intelligence Layer</a:t>
            </a:r>
            <a:endParaRPr lang="en-US" sz="1040" dirty="0"/>
          </a:p>
        </p:txBody>
      </p:sp>
      <p:sp>
        <p:nvSpPr>
          <p:cNvPr id="31" name="Shape 29"/>
          <p:cNvSpPr/>
          <p:nvPr/>
        </p:nvSpPr>
        <p:spPr>
          <a:xfrm>
            <a:off x="457200" y="2761488"/>
            <a:ext cx="10332720" cy="1115568"/>
          </a:xfrm>
          <a:prstGeom prst="roundRect">
            <a:avLst/>
          </a:prstGeom>
          <a:solidFill>
            <a:srgbClr val="F9FBFE"/>
          </a:solidFill>
          <a:ln w="8890">
            <a:solidFill>
              <a:srgbClr val="D5DEE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" y="2944368"/>
            <a:ext cx="141732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9536" y="3081528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Indexer</a:t>
            </a: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859536" y="334670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 once, cache chunks</a:t>
            </a:r>
            <a:endParaRPr lang="en-US" sz="590" dirty="0"/>
          </a:p>
        </p:txBody>
      </p:sp>
      <p:sp>
        <p:nvSpPr>
          <p:cNvPr id="35" name="Shape 33"/>
          <p:cNvSpPr/>
          <p:nvPr/>
        </p:nvSpPr>
        <p:spPr>
          <a:xfrm>
            <a:off x="2130552" y="3227832"/>
            <a:ext cx="210312" cy="9144"/>
          </a:xfrm>
          <a:prstGeom prst="line">
            <a:avLst/>
          </a:prstGeom>
          <a:noFill/>
          <a:ln w="16510">
            <a:solidFill>
              <a:srgbClr val="20314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340864" y="2944368"/>
            <a:ext cx="141732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87168" y="3081528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</a:t>
            </a:r>
            <a:endParaRPr lang="en-US" sz="860" dirty="0"/>
          </a:p>
        </p:txBody>
      </p:sp>
      <p:sp>
        <p:nvSpPr>
          <p:cNvPr id="38" name="Text 36"/>
          <p:cNvSpPr/>
          <p:nvPr/>
        </p:nvSpPr>
        <p:spPr>
          <a:xfrm>
            <a:off x="2487168" y="334670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Path, kind, size, role</a:t>
            </a:r>
            <a:endParaRPr lang="en-US" sz="590" dirty="0"/>
          </a:p>
        </p:txBody>
      </p:sp>
      <p:sp>
        <p:nvSpPr>
          <p:cNvPr id="39" name="Shape 37"/>
          <p:cNvSpPr/>
          <p:nvPr/>
        </p:nvSpPr>
        <p:spPr>
          <a:xfrm>
            <a:off x="3758184" y="3227832"/>
            <a:ext cx="210312" cy="9144"/>
          </a:xfrm>
          <a:prstGeom prst="line">
            <a:avLst/>
          </a:prstGeom>
          <a:noFill/>
          <a:ln w="16510">
            <a:solidFill>
              <a:srgbClr val="203149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3968496" y="2944368"/>
            <a:ext cx="141732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0" y="3081528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Symbols</a:t>
            </a:r>
            <a:endParaRPr lang="en-US" sz="860" dirty="0"/>
          </a:p>
        </p:txBody>
      </p:sp>
      <p:sp>
        <p:nvSpPr>
          <p:cNvPr id="42" name="Text 40"/>
          <p:cNvSpPr/>
          <p:nvPr/>
        </p:nvSpPr>
        <p:spPr>
          <a:xfrm>
            <a:off x="4114800" y="334670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Routes, functions, templates</a:t>
            </a:r>
            <a:endParaRPr lang="en-US" sz="590" dirty="0"/>
          </a:p>
        </p:txBody>
      </p:sp>
      <p:sp>
        <p:nvSpPr>
          <p:cNvPr id="43" name="Shape 41"/>
          <p:cNvSpPr/>
          <p:nvPr/>
        </p:nvSpPr>
        <p:spPr>
          <a:xfrm>
            <a:off x="5385816" y="3227832"/>
            <a:ext cx="210312" cy="9144"/>
          </a:xfrm>
          <a:prstGeom prst="line">
            <a:avLst/>
          </a:prstGeom>
          <a:noFill/>
          <a:ln w="16510">
            <a:solidFill>
              <a:srgbClr val="203149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596128" y="2944368"/>
            <a:ext cx="141732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42432" y="3081528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Imports</a:t>
            </a:r>
            <a:endParaRPr lang="en-US" sz="860" dirty="0"/>
          </a:p>
        </p:txBody>
      </p:sp>
      <p:sp>
        <p:nvSpPr>
          <p:cNvPr id="46" name="Text 44"/>
          <p:cNvSpPr/>
          <p:nvPr/>
        </p:nvSpPr>
        <p:spPr>
          <a:xfrm>
            <a:off x="5742432" y="334670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Dependencies + callers</a:t>
            </a:r>
            <a:endParaRPr lang="en-US" sz="590" dirty="0"/>
          </a:p>
        </p:txBody>
      </p:sp>
      <p:sp>
        <p:nvSpPr>
          <p:cNvPr id="47" name="Shape 45"/>
          <p:cNvSpPr/>
          <p:nvPr/>
        </p:nvSpPr>
        <p:spPr>
          <a:xfrm>
            <a:off x="7013448" y="3227832"/>
            <a:ext cx="210312" cy="9144"/>
          </a:xfrm>
          <a:prstGeom prst="line">
            <a:avLst/>
          </a:prstGeom>
          <a:noFill/>
          <a:ln w="16510">
            <a:solidFill>
              <a:srgbClr val="203149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223760" y="2944368"/>
            <a:ext cx="141732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70064" y="3081528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Retriever</a:t>
            </a:r>
            <a:endParaRPr lang="en-US" sz="860" dirty="0"/>
          </a:p>
        </p:txBody>
      </p:sp>
      <p:sp>
        <p:nvSpPr>
          <p:cNvPr id="50" name="Text 48"/>
          <p:cNvSpPr/>
          <p:nvPr/>
        </p:nvSpPr>
        <p:spPr>
          <a:xfrm>
            <a:off x="7370064" y="334670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useful snippets</a:t>
            </a:r>
            <a:endParaRPr lang="en-US" sz="590" dirty="0"/>
          </a:p>
        </p:txBody>
      </p:sp>
      <p:sp>
        <p:nvSpPr>
          <p:cNvPr id="51" name="Shape 49"/>
          <p:cNvSpPr/>
          <p:nvPr/>
        </p:nvSpPr>
        <p:spPr>
          <a:xfrm>
            <a:off x="8641080" y="3227832"/>
            <a:ext cx="210312" cy="9144"/>
          </a:xfrm>
          <a:prstGeom prst="line">
            <a:avLst/>
          </a:prstGeom>
          <a:noFill/>
          <a:ln w="16510">
            <a:solidFill>
              <a:srgbClr val="203149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8851392" y="2944368"/>
            <a:ext cx="141732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997696" y="3081528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Expansion</a:t>
            </a:r>
            <a:endParaRPr lang="en-US" sz="860" dirty="0"/>
          </a:p>
        </p:txBody>
      </p:sp>
      <p:sp>
        <p:nvSpPr>
          <p:cNvPr id="54" name="Text 52"/>
          <p:cNvSpPr/>
          <p:nvPr/>
        </p:nvSpPr>
        <p:spPr>
          <a:xfrm>
            <a:off x="8997696" y="334670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Related files + owners</a:t>
            </a:r>
            <a:endParaRPr lang="en-US" sz="590" dirty="0"/>
          </a:p>
        </p:txBody>
      </p:sp>
      <p:sp>
        <p:nvSpPr>
          <p:cNvPr id="55" name="Shape 53"/>
          <p:cNvSpPr/>
          <p:nvPr/>
        </p:nvSpPr>
        <p:spPr>
          <a:xfrm>
            <a:off x="11000232" y="2852928"/>
            <a:ext cx="822960" cy="896112"/>
          </a:xfrm>
          <a:prstGeom prst="roundRect">
            <a:avLst/>
          </a:prstGeom>
          <a:solidFill>
            <a:srgbClr val="142235"/>
          </a:solidFill>
          <a:ln w="10160">
            <a:solidFill>
              <a:srgbClr val="14223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146536" y="299008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</a:t>
            </a:r>
            <a:endParaRPr lang="en-US" sz="760" dirty="0"/>
          </a:p>
        </p:txBody>
      </p:sp>
      <p:sp>
        <p:nvSpPr>
          <p:cNvPr id="57" name="Text 55"/>
          <p:cNvSpPr/>
          <p:nvPr/>
        </p:nvSpPr>
        <p:spPr>
          <a:xfrm>
            <a:off x="11146536" y="3255264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E9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.repo_index</a:t>
            </a:r>
            <a:endParaRPr lang="en-US" sz="580" dirty="0"/>
          </a:p>
          <a:p>
            <a:pPr algn="l" indent="0" marL="0">
              <a:buNone/>
            </a:pPr>
            <a:r>
              <a:rPr lang="en-US" sz="580" dirty="0">
                <a:solidFill>
                  <a:srgbClr val="E9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lessons</a:t>
            </a:r>
            <a:endParaRPr lang="en-US" sz="580" dirty="0"/>
          </a:p>
          <a:p>
            <a:pPr algn="l" indent="0" marL="0">
              <a:buNone/>
            </a:pPr>
            <a:r>
              <a:rPr lang="en-US" sz="580" dirty="0">
                <a:solidFill>
                  <a:srgbClr val="E9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signals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10195560" y="3227832"/>
            <a:ext cx="804672" cy="9144"/>
          </a:xfrm>
          <a:prstGeom prst="line">
            <a:avLst/>
          </a:prstGeom>
          <a:noFill/>
          <a:ln w="17780">
            <a:solidFill>
              <a:srgbClr val="203149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2084832" y="3657600"/>
            <a:ext cx="8915400" cy="9144"/>
          </a:xfrm>
          <a:prstGeom prst="line">
            <a:avLst/>
          </a:prstGeom>
          <a:noFill/>
          <a:ln w="13970">
            <a:solidFill>
              <a:srgbClr val="203149"/>
            </a:solidFill>
            <a:prstDash val="dash"/>
            <a:headEnd type="triangle"/>
          </a:ln>
        </p:spPr>
      </p:sp>
      <p:sp>
        <p:nvSpPr>
          <p:cNvPr id="60" name="Shape 58"/>
          <p:cNvSpPr/>
          <p:nvPr/>
        </p:nvSpPr>
        <p:spPr>
          <a:xfrm>
            <a:off x="2084832" y="2761488"/>
            <a:ext cx="9144" cy="896112"/>
          </a:xfrm>
          <a:prstGeom prst="line">
            <a:avLst/>
          </a:prstGeom>
          <a:noFill/>
          <a:ln w="13970">
            <a:solidFill>
              <a:srgbClr val="203149"/>
            </a:solidFill>
            <a:prstDash val="dash"/>
            <a:headEnd type="triangle"/>
          </a:ln>
        </p:spPr>
      </p:sp>
      <p:sp>
        <p:nvSpPr>
          <p:cNvPr id="61" name="Text 59"/>
          <p:cNvSpPr/>
          <p:nvPr/>
        </p:nvSpPr>
        <p:spPr>
          <a:xfrm>
            <a:off x="457200" y="42245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Token-Bounded Context + Agent Orchestration</a:t>
            </a:r>
            <a:endParaRPr lang="en-US" sz="1040" dirty="0"/>
          </a:p>
        </p:txBody>
      </p:sp>
      <p:sp>
        <p:nvSpPr>
          <p:cNvPr id="62" name="Shape 60"/>
          <p:cNvSpPr/>
          <p:nvPr/>
        </p:nvSpPr>
        <p:spPr>
          <a:xfrm>
            <a:off x="457200" y="4526280"/>
            <a:ext cx="2331720" cy="868680"/>
          </a:xfrm>
          <a:prstGeom prst="roundRect">
            <a:avLst/>
          </a:prstGeom>
          <a:solidFill>
            <a:srgbClr val="E8F6F4"/>
          </a:solidFill>
          <a:ln w="10160">
            <a:solidFill>
              <a:srgbClr val="B9E6D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03504" y="4663440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Pack</a:t>
            </a:r>
            <a:endParaRPr lang="en-US" sz="920" dirty="0"/>
          </a:p>
        </p:txBody>
      </p:sp>
      <p:sp>
        <p:nvSpPr>
          <p:cNvPr id="64" name="Text 62"/>
          <p:cNvSpPr/>
          <p:nvPr/>
        </p:nvSpPr>
        <p:spPr>
          <a:xfrm>
            <a:off x="603504" y="4928616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 + comments</a:t>
            </a:r>
            <a:endParaRPr lang="en-US" sz="640" dirty="0"/>
          </a:p>
          <a:p>
            <a:pPr algn="l" indent="0" marL="0">
              <a:buNone/>
            </a:pPr>
            <a:r>
              <a:rPr lang="en-US" sz="64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code + evidence</a:t>
            </a:r>
            <a:endParaRPr lang="en-US" sz="640" dirty="0"/>
          </a:p>
          <a:p>
            <a:pPr algn="l" indent="0" marL="0">
              <a:buNone/>
            </a:pPr>
            <a:r>
              <a:rPr lang="en-US" sz="64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 + git state</a:t>
            </a:r>
            <a:endParaRPr lang="en-US" sz="640" dirty="0"/>
          </a:p>
        </p:txBody>
      </p:sp>
      <p:sp>
        <p:nvSpPr>
          <p:cNvPr id="65" name="Shape 63"/>
          <p:cNvSpPr/>
          <p:nvPr/>
        </p:nvSpPr>
        <p:spPr>
          <a:xfrm>
            <a:off x="3200400" y="4361688"/>
            <a:ext cx="3886200" cy="1234440"/>
          </a:xfrm>
          <a:prstGeom prst="roundRect">
            <a:avLst/>
          </a:prstGeom>
          <a:solidFill>
            <a:srgbClr val="F7FAFF"/>
          </a:solidFill>
          <a:ln w="8890">
            <a:solidFill>
              <a:srgbClr val="D5DEE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56432" y="4526280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Pipeline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456432" y="4754880"/>
            <a:ext cx="987552" cy="246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566160" y="4837176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Planner</a:t>
            </a:r>
            <a:endParaRPr lang="en-US" sz="580" dirty="0"/>
          </a:p>
        </p:txBody>
      </p:sp>
      <p:sp>
        <p:nvSpPr>
          <p:cNvPr id="69" name="Shape 67"/>
          <p:cNvSpPr/>
          <p:nvPr/>
        </p:nvSpPr>
        <p:spPr>
          <a:xfrm>
            <a:off x="4617720" y="4754880"/>
            <a:ext cx="987552" cy="246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27448" y="4837176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Codebase Mapper</a:t>
            </a:r>
            <a:endParaRPr lang="en-US" sz="580" dirty="0"/>
          </a:p>
        </p:txBody>
      </p:sp>
      <p:sp>
        <p:nvSpPr>
          <p:cNvPr id="71" name="Shape 69"/>
          <p:cNvSpPr/>
          <p:nvPr/>
        </p:nvSpPr>
        <p:spPr>
          <a:xfrm>
            <a:off x="5779008" y="4754880"/>
            <a:ext cx="987552" cy="246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88736" y="4837176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Aider Editor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3456432" y="5102352"/>
            <a:ext cx="987552" cy="246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566160" y="5184648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Validators</a:t>
            </a:r>
            <a:endParaRPr lang="en-US" sz="580" dirty="0"/>
          </a:p>
        </p:txBody>
      </p:sp>
      <p:sp>
        <p:nvSpPr>
          <p:cNvPr id="75" name="Shape 73"/>
          <p:cNvSpPr/>
          <p:nvPr/>
        </p:nvSpPr>
        <p:spPr>
          <a:xfrm>
            <a:off x="4617720" y="5102352"/>
            <a:ext cx="987552" cy="246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727448" y="5184648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Reviewer Gate</a:t>
            </a:r>
            <a:endParaRPr lang="en-US" sz="580" dirty="0"/>
          </a:p>
        </p:txBody>
      </p:sp>
      <p:sp>
        <p:nvSpPr>
          <p:cNvPr id="77" name="Shape 75"/>
          <p:cNvSpPr/>
          <p:nvPr/>
        </p:nvSpPr>
        <p:spPr>
          <a:xfrm>
            <a:off x="5779008" y="5102352"/>
            <a:ext cx="987552" cy="246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888736" y="5184648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Writer</a:t>
            </a:r>
            <a:endParaRPr lang="en-US" sz="580" dirty="0"/>
          </a:p>
        </p:txBody>
      </p:sp>
      <p:sp>
        <p:nvSpPr>
          <p:cNvPr id="79" name="Shape 77"/>
          <p:cNvSpPr/>
          <p:nvPr/>
        </p:nvSpPr>
        <p:spPr>
          <a:xfrm>
            <a:off x="7498080" y="4526280"/>
            <a:ext cx="1600200" cy="868680"/>
          </a:xfrm>
          <a:prstGeom prst="roundRect">
            <a:avLst/>
          </a:prstGeom>
          <a:solidFill>
            <a:srgbClr val="3E7BEF"/>
          </a:solidFill>
          <a:ln w="10160">
            <a:solidFill>
              <a:srgbClr val="3E7BE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644384" y="4663440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Mode</a:t>
            </a:r>
            <a:endParaRPr lang="en-US" sz="880" dirty="0"/>
          </a:p>
        </p:txBody>
      </p:sp>
      <p:sp>
        <p:nvSpPr>
          <p:cNvPr id="81" name="Text 79"/>
          <p:cNvSpPr/>
          <p:nvPr/>
        </p:nvSpPr>
        <p:spPr>
          <a:xfrm>
            <a:off x="7644384" y="4928616"/>
            <a:ext cx="1325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10" dirty="0">
                <a:solidFill>
                  <a:srgbClr val="E9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Isolated clone</a:t>
            </a:r>
            <a:endParaRPr lang="en-US" sz="610" dirty="0"/>
          </a:p>
          <a:p>
            <a:pPr algn="l" indent="0" marL="0">
              <a:buNone/>
            </a:pPr>
            <a:r>
              <a:rPr lang="en-US" sz="610" dirty="0">
                <a:solidFill>
                  <a:srgbClr val="E9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 files</a:t>
            </a:r>
            <a:endParaRPr lang="en-US" sz="610" dirty="0"/>
          </a:p>
          <a:p>
            <a:pPr algn="l" indent="0" marL="0">
              <a:buNone/>
            </a:pPr>
            <a:r>
              <a:rPr lang="en-US" sz="610" dirty="0">
                <a:solidFill>
                  <a:srgbClr val="E9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PR write</a:t>
            </a:r>
            <a:endParaRPr lang="en-US" sz="610" dirty="0"/>
          </a:p>
        </p:txBody>
      </p:sp>
      <p:sp>
        <p:nvSpPr>
          <p:cNvPr id="82" name="Shape 80"/>
          <p:cNvSpPr/>
          <p:nvPr/>
        </p:nvSpPr>
        <p:spPr>
          <a:xfrm>
            <a:off x="9555480" y="4526280"/>
            <a:ext cx="1554480" cy="868680"/>
          </a:xfrm>
          <a:prstGeom prst="roundRect">
            <a:avLst/>
          </a:prstGeom>
          <a:solidFill>
            <a:srgbClr val="E9952F"/>
          </a:solidFill>
          <a:ln w="10160">
            <a:solidFill>
              <a:srgbClr val="E9952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701784" y="466344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Backend</a:t>
            </a:r>
            <a:endParaRPr lang="en-US" sz="880" dirty="0"/>
          </a:p>
        </p:txBody>
      </p:sp>
      <p:sp>
        <p:nvSpPr>
          <p:cNvPr id="84" name="Text 82"/>
          <p:cNvSpPr/>
          <p:nvPr/>
        </p:nvSpPr>
        <p:spPr>
          <a:xfrm>
            <a:off x="9701784" y="4928616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10" dirty="0">
                <a:solidFill>
                  <a:srgbClr val="E9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 model</a:t>
            </a:r>
            <a:endParaRPr lang="en-US" sz="610" dirty="0"/>
          </a:p>
          <a:p>
            <a:pPr algn="l" indent="0" marL="0">
              <a:buNone/>
            </a:pPr>
            <a:r>
              <a:rPr lang="en-US" sz="610" dirty="0">
                <a:solidFill>
                  <a:srgbClr val="E9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Aider CLI</a:t>
            </a:r>
            <a:endParaRPr lang="en-US" sz="610" dirty="0"/>
          </a:p>
          <a:p>
            <a:pPr algn="l" indent="0" marL="0">
              <a:buNone/>
            </a:pPr>
            <a:r>
              <a:rPr lang="en-US" sz="610" dirty="0">
                <a:solidFill>
                  <a:srgbClr val="E9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agent</a:t>
            </a:r>
            <a:endParaRPr lang="en-US" sz="610" dirty="0"/>
          </a:p>
        </p:txBody>
      </p:sp>
      <p:sp>
        <p:nvSpPr>
          <p:cNvPr id="85" name="Shape 83"/>
          <p:cNvSpPr/>
          <p:nvPr/>
        </p:nvSpPr>
        <p:spPr>
          <a:xfrm>
            <a:off x="2788920" y="4956048"/>
            <a:ext cx="411480" cy="9144"/>
          </a:xfrm>
          <a:prstGeom prst="line">
            <a:avLst/>
          </a:prstGeom>
          <a:noFill/>
          <a:ln w="20320">
            <a:solidFill>
              <a:srgbClr val="07948D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7086600" y="4956048"/>
            <a:ext cx="411480" cy="9144"/>
          </a:xfrm>
          <a:prstGeom prst="line">
            <a:avLst/>
          </a:prstGeom>
          <a:noFill/>
          <a:ln w="20320">
            <a:solidFill>
              <a:srgbClr val="203149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9098280" y="4956048"/>
            <a:ext cx="457200" cy="9144"/>
          </a:xfrm>
          <a:prstGeom prst="line">
            <a:avLst/>
          </a:prstGeom>
          <a:noFill/>
          <a:ln w="20320">
            <a:solidFill>
              <a:srgbClr val="203149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6291072" y="5330952"/>
            <a:ext cx="9144" cy="658368"/>
          </a:xfrm>
          <a:prstGeom prst="line">
            <a:avLst/>
          </a:prstGeom>
          <a:noFill/>
          <a:ln w="13970">
            <a:solidFill>
              <a:srgbClr val="D95D5D"/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>
            <a:off x="3703320" y="5989320"/>
            <a:ext cx="2587752" cy="9144"/>
          </a:xfrm>
          <a:prstGeom prst="line">
            <a:avLst/>
          </a:prstGeom>
          <a:noFill/>
          <a:ln w="13970">
            <a:solidFill>
              <a:srgbClr val="D95D5D"/>
            </a:solidFill>
            <a:prstDash val="dash"/>
            <a:headEnd type="triangle"/>
          </a:ln>
        </p:spPr>
      </p:sp>
      <p:sp>
        <p:nvSpPr>
          <p:cNvPr id="90" name="Text 88"/>
          <p:cNvSpPr/>
          <p:nvPr/>
        </p:nvSpPr>
        <p:spPr>
          <a:xfrm>
            <a:off x="3749040" y="581558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10" dirty="0">
                <a:solidFill>
                  <a:srgbClr val="D9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Reviewer fail → retry with targeted feedback</a:t>
            </a:r>
            <a:endParaRPr lang="en-US" sz="610" dirty="0"/>
          </a:p>
        </p:txBody>
      </p:sp>
      <p:sp>
        <p:nvSpPr>
          <p:cNvPr id="91" name="Text 89"/>
          <p:cNvSpPr/>
          <p:nvPr/>
        </p:nvSpPr>
        <p:spPr>
          <a:xfrm>
            <a:off x="457200" y="57607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Output</a:t>
            </a:r>
            <a:endParaRPr lang="en-US" sz="1040" dirty="0"/>
          </a:p>
        </p:txBody>
      </p:sp>
      <p:sp>
        <p:nvSpPr>
          <p:cNvPr id="92" name="Shape 90"/>
          <p:cNvSpPr/>
          <p:nvPr/>
        </p:nvSpPr>
        <p:spPr>
          <a:xfrm>
            <a:off x="457200" y="5925312"/>
            <a:ext cx="201168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57200" y="5925312"/>
            <a:ext cx="54864" cy="530352"/>
          </a:xfrm>
          <a:prstGeom prst="rect">
            <a:avLst/>
          </a:prstGeom>
          <a:solidFill>
            <a:srgbClr val="18B7AD"/>
          </a:solidFill>
          <a:ln w="12700">
            <a:solidFill>
              <a:srgbClr val="18B7AD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03504" y="6062472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Proposal</a:t>
            </a:r>
            <a:endParaRPr lang="en-US" sz="780" dirty="0"/>
          </a:p>
        </p:txBody>
      </p:sp>
      <p:sp>
        <p:nvSpPr>
          <p:cNvPr id="95" name="Text 93"/>
          <p:cNvSpPr/>
          <p:nvPr/>
        </p:nvSpPr>
        <p:spPr>
          <a:xfrm>
            <a:off x="603504" y="632764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3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 + narrative + logs</a:t>
            </a:r>
            <a:endParaRPr lang="en-US" sz="530" dirty="0"/>
          </a:p>
        </p:txBody>
      </p:sp>
      <p:sp>
        <p:nvSpPr>
          <p:cNvPr id="96" name="Shape 94"/>
          <p:cNvSpPr/>
          <p:nvPr/>
        </p:nvSpPr>
        <p:spPr>
          <a:xfrm>
            <a:off x="2788920" y="5925312"/>
            <a:ext cx="201168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788920" y="5925312"/>
            <a:ext cx="54864" cy="530352"/>
          </a:xfrm>
          <a:prstGeom prst="rect">
            <a:avLst/>
          </a:prstGeom>
          <a:solidFill>
            <a:srgbClr val="16845D"/>
          </a:solidFill>
          <a:ln w="12700">
            <a:solidFill>
              <a:srgbClr val="16845D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935224" y="6062472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Approval</a:t>
            </a:r>
            <a:endParaRPr lang="en-US" sz="780" dirty="0"/>
          </a:p>
        </p:txBody>
      </p:sp>
      <p:sp>
        <p:nvSpPr>
          <p:cNvPr id="99" name="Text 97"/>
          <p:cNvSpPr/>
          <p:nvPr/>
        </p:nvSpPr>
        <p:spPr>
          <a:xfrm>
            <a:off x="2935224" y="632764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3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final content</a:t>
            </a:r>
            <a:endParaRPr lang="en-US" sz="530" dirty="0"/>
          </a:p>
        </p:txBody>
      </p:sp>
      <p:sp>
        <p:nvSpPr>
          <p:cNvPr id="100" name="Shape 98"/>
          <p:cNvSpPr/>
          <p:nvPr/>
        </p:nvSpPr>
        <p:spPr>
          <a:xfrm>
            <a:off x="5120640" y="5925312"/>
            <a:ext cx="201168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120640" y="5925312"/>
            <a:ext cx="54864" cy="530352"/>
          </a:xfrm>
          <a:prstGeom prst="rect">
            <a:avLst/>
          </a:prstGeom>
          <a:solidFill>
            <a:srgbClr val="3E7BEF"/>
          </a:solidFill>
          <a:ln w="12700">
            <a:solidFill>
              <a:srgbClr val="3E7BE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266944" y="6062472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PR</a:t>
            </a:r>
            <a:endParaRPr lang="en-US" sz="780" dirty="0"/>
          </a:p>
        </p:txBody>
      </p:sp>
      <p:sp>
        <p:nvSpPr>
          <p:cNvPr id="103" name="Text 101"/>
          <p:cNvSpPr/>
          <p:nvPr/>
        </p:nvSpPr>
        <p:spPr>
          <a:xfrm>
            <a:off x="5266944" y="632764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3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branch only</a:t>
            </a:r>
            <a:endParaRPr lang="en-US" sz="530" dirty="0"/>
          </a:p>
        </p:txBody>
      </p:sp>
      <p:sp>
        <p:nvSpPr>
          <p:cNvPr id="104" name="Shape 102"/>
          <p:cNvSpPr/>
          <p:nvPr/>
        </p:nvSpPr>
        <p:spPr>
          <a:xfrm>
            <a:off x="2468880" y="6190488"/>
            <a:ext cx="320040" cy="9144"/>
          </a:xfrm>
          <a:prstGeom prst="line">
            <a:avLst/>
          </a:prstGeom>
          <a:noFill/>
          <a:ln w="20320">
            <a:solidFill>
              <a:srgbClr val="203149"/>
            </a:solidFill>
            <a:prstDash val="solid"/>
            <a:tailEnd type="triangle"/>
          </a:ln>
        </p:spPr>
      </p:sp>
      <p:sp>
        <p:nvSpPr>
          <p:cNvPr id="105" name="Shape 103"/>
          <p:cNvSpPr/>
          <p:nvPr/>
        </p:nvSpPr>
        <p:spPr>
          <a:xfrm>
            <a:off x="4800600" y="6190488"/>
            <a:ext cx="320040" cy="9144"/>
          </a:xfrm>
          <a:prstGeom prst="line">
            <a:avLst/>
          </a:prstGeom>
          <a:noFill/>
          <a:ln w="20320">
            <a:solidFill>
              <a:srgbClr val="203149"/>
            </a:solidFill>
            <a:prstDash val="solid"/>
            <a:tailEnd type="triangle"/>
          </a:ln>
        </p:spPr>
      </p:sp>
      <p:sp>
        <p:nvSpPr>
          <p:cNvPr id="106" name="Shape 104"/>
          <p:cNvSpPr/>
          <p:nvPr/>
        </p:nvSpPr>
        <p:spPr>
          <a:xfrm>
            <a:off x="6126480" y="5394960"/>
            <a:ext cx="3429000" cy="530352"/>
          </a:xfrm>
          <a:prstGeom prst="line">
            <a:avLst/>
          </a:prstGeom>
          <a:noFill/>
          <a:ln w="15240">
            <a:solidFill>
              <a:srgbClr val="07948D"/>
            </a:solidFill>
            <a:prstDash val="solid"/>
            <a:headEnd type="triangle"/>
          </a:ln>
        </p:spPr>
      </p:sp>
      <p:sp>
        <p:nvSpPr>
          <p:cNvPr id="107" name="Text 105"/>
          <p:cNvSpPr/>
          <p:nvPr/>
        </p:nvSpPr>
        <p:spPr>
          <a:xfrm>
            <a:off x="256032" y="6556248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75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CTO demo</a:t>
            </a:r>
            <a:endParaRPr lang="en-US" sz="680" dirty="0"/>
          </a:p>
        </p:txBody>
      </p:sp>
      <p:sp>
        <p:nvSpPr>
          <p:cNvPr id="108" name="Text 106"/>
          <p:cNvSpPr/>
          <p:nvPr/>
        </p:nvSpPr>
        <p:spPr>
          <a:xfrm>
            <a:off x="11631168" y="6556248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75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6459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Journey: From Issue to Reviewable PR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880" y="621792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flow the evaluator can watch end-to-end during the demo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02336" cy="402336"/>
          </a:xfrm>
          <a:prstGeom prst="ellipse">
            <a:avLst/>
          </a:prstGeom>
          <a:solidFill>
            <a:srgbClr val="3E7BEF"/>
          </a:solidFill>
          <a:ln w="12700">
            <a:solidFill>
              <a:srgbClr val="3E7B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08176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847088"/>
            <a:ext cx="1645920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847088"/>
            <a:ext cx="54864" cy="1115568"/>
          </a:xfrm>
          <a:prstGeom prst="rect">
            <a:avLst/>
          </a:prstGeom>
          <a:solidFill>
            <a:srgbClr val="3E7BEF"/>
          </a:solidFill>
          <a:ln w="12700">
            <a:solidFill>
              <a:srgbClr val="3E7B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198424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Issue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9224" y="224942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tester files a normal GitHub issue with expected behavior, not a developer prompt.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2194560" y="2404872"/>
            <a:ext cx="256032" cy="9144"/>
          </a:xfrm>
          <a:prstGeom prst="line">
            <a:avLst/>
          </a:prstGeom>
          <a:noFill/>
          <a:ln w="16510">
            <a:solidFill>
              <a:srgbClr val="3E7BE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404872" y="1298448"/>
            <a:ext cx="402336" cy="402336"/>
          </a:xfrm>
          <a:prstGeom prst="ellipse">
            <a:avLst/>
          </a:prstGeom>
          <a:solidFill>
            <a:srgbClr val="07948D"/>
          </a:solidFill>
          <a:ln w="12700">
            <a:solidFill>
              <a:srgbClr val="07948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1408176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404872" y="1847088"/>
            <a:ext cx="1645920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04872" y="1847088"/>
            <a:ext cx="54864" cy="1115568"/>
          </a:xfrm>
          <a:prstGeom prst="rect">
            <a:avLst/>
          </a:prstGeom>
          <a:solidFill>
            <a:srgbClr val="07948D"/>
          </a:solidFill>
          <a:ln w="12700">
            <a:solidFill>
              <a:srgbClr val="07948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51176" y="198424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Context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51176" y="224942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classifies scope and selects likely files using index evidence, symbols, routes, imports, and metadata.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4096512" y="2404872"/>
            <a:ext cx="256032" cy="9144"/>
          </a:xfrm>
          <a:prstGeom prst="line">
            <a:avLst/>
          </a:prstGeom>
          <a:noFill/>
          <a:ln w="16510">
            <a:solidFill>
              <a:srgbClr val="07948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306824" y="1298448"/>
            <a:ext cx="402336" cy="402336"/>
          </a:xfrm>
          <a:prstGeom prst="ellipse">
            <a:avLst/>
          </a:prstGeom>
          <a:solidFill>
            <a:srgbClr val="E9952F"/>
          </a:solidFill>
          <a:ln w="12700">
            <a:solidFill>
              <a:srgbClr val="E995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43984" y="1408176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06824" y="1847088"/>
            <a:ext cx="1645920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06824" y="1847088"/>
            <a:ext cx="54864" cy="1115568"/>
          </a:xfrm>
          <a:prstGeom prst="rect">
            <a:avLst/>
          </a:prstGeom>
          <a:solidFill>
            <a:srgbClr val="E9952F"/>
          </a:solidFill>
          <a:ln w="12700">
            <a:solidFill>
              <a:srgbClr val="E995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53128" y="198424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Edits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453128" y="224942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Aider works in an isolated clone on selected files and receives project-specific instructions.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5998464" y="2404872"/>
            <a:ext cx="256032" cy="9144"/>
          </a:xfrm>
          <a:prstGeom prst="line">
            <a:avLst/>
          </a:prstGeom>
          <a:noFill/>
          <a:ln w="16510">
            <a:solidFill>
              <a:srgbClr val="E9952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208776" y="1298448"/>
            <a:ext cx="402336" cy="402336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5936" y="1408176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208776" y="1847088"/>
            <a:ext cx="1645920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08776" y="1847088"/>
            <a:ext cx="54864" cy="111556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198424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Gate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55080" y="224942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validators and a reviewer agent inspect the patch against the issue.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7900416" y="2404872"/>
            <a:ext cx="256032" cy="9144"/>
          </a:xfrm>
          <a:prstGeom prst="line">
            <a:avLst/>
          </a:prstGeom>
          <a:noFill/>
          <a:ln w="16510">
            <a:solidFill>
              <a:srgbClr val="6C63FF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110728" y="1298448"/>
            <a:ext cx="402336" cy="402336"/>
          </a:xfrm>
          <a:prstGeom prst="ellipse">
            <a:avLst/>
          </a:prstGeom>
          <a:solidFill>
            <a:srgbClr val="16845D"/>
          </a:solidFill>
          <a:ln w="12700">
            <a:solidFill>
              <a:srgbClr val="16845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47888" y="1408176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110728" y="1847088"/>
            <a:ext cx="1645920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10728" y="1847088"/>
            <a:ext cx="54864" cy="1115568"/>
          </a:xfrm>
          <a:prstGeom prst="rect">
            <a:avLst/>
          </a:prstGeom>
          <a:solidFill>
            <a:srgbClr val="16845D"/>
          </a:solidFill>
          <a:ln w="12700">
            <a:solidFill>
              <a:srgbClr val="16845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57032" y="198424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257032" y="224942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user sees a diff, summary, test plan, run timeline, and can edit final file contents.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9802368" y="2404872"/>
            <a:ext cx="256032" cy="9144"/>
          </a:xfrm>
          <a:prstGeom prst="line">
            <a:avLst/>
          </a:prstGeom>
          <a:noFill/>
          <a:ln w="16510">
            <a:solidFill>
              <a:srgbClr val="16845D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0012680" y="1298448"/>
            <a:ext cx="402336" cy="402336"/>
          </a:xfrm>
          <a:prstGeom prst="ellipse">
            <a:avLst/>
          </a:prstGeom>
          <a:solidFill>
            <a:srgbClr val="203149"/>
          </a:solidFill>
          <a:ln w="12700">
            <a:solidFill>
              <a:srgbClr val="20314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149840" y="1408176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0012680" y="1847088"/>
            <a:ext cx="1645920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012680" y="1847088"/>
            <a:ext cx="54864" cy="1115568"/>
          </a:xfrm>
          <a:prstGeom prst="rect">
            <a:avLst/>
          </a:prstGeom>
          <a:solidFill>
            <a:srgbClr val="203149"/>
          </a:solidFill>
          <a:ln w="12700">
            <a:solidFill>
              <a:srgbClr val="20314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158984" y="198424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PR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158984" y="224942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after approval does the app create a branch and PR against the selected target branch.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502920" y="3657600"/>
            <a:ext cx="11064240" cy="12984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5DE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9808" y="38587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makes the demo credible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49808" y="4279392"/>
            <a:ext cx="109728" cy="109728"/>
          </a:xfrm>
          <a:prstGeom prst="ellipse">
            <a:avLst/>
          </a:prstGeom>
          <a:solidFill>
            <a:srgbClr val="18B7AD"/>
          </a:solidFill>
          <a:ln w="12700">
            <a:solidFill>
              <a:srgbClr val="18B7A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4400" y="4242816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workflow</a:t>
            </a:r>
            <a:endParaRPr lang="en-US" sz="840" dirty="0"/>
          </a:p>
        </p:txBody>
      </p:sp>
      <p:sp>
        <p:nvSpPr>
          <p:cNvPr id="50" name="Text 48"/>
          <p:cNvSpPr/>
          <p:nvPr/>
        </p:nvSpPr>
        <p:spPr>
          <a:xfrm>
            <a:off x="914400" y="446227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issues, branches, diffs, and PRs; not a chatbot mockup.</a:t>
            </a:r>
            <a:endParaRPr lang="en-US" sz="670" dirty="0"/>
          </a:p>
        </p:txBody>
      </p:sp>
      <p:sp>
        <p:nvSpPr>
          <p:cNvPr id="51" name="Shape 49"/>
          <p:cNvSpPr/>
          <p:nvPr/>
        </p:nvSpPr>
        <p:spPr>
          <a:xfrm>
            <a:off x="3447288" y="4279392"/>
            <a:ext cx="109728" cy="109728"/>
          </a:xfrm>
          <a:prstGeom prst="ellipse">
            <a:avLst/>
          </a:prstGeom>
          <a:solidFill>
            <a:srgbClr val="16845D"/>
          </a:solidFill>
          <a:ln w="12700">
            <a:solidFill>
              <a:srgbClr val="16845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11880" y="4242816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Human-controlled</a:t>
            </a:r>
            <a:endParaRPr lang="en-US" sz="840" dirty="0"/>
          </a:p>
        </p:txBody>
      </p:sp>
      <p:sp>
        <p:nvSpPr>
          <p:cNvPr id="53" name="Text 51"/>
          <p:cNvSpPr/>
          <p:nvPr/>
        </p:nvSpPr>
        <p:spPr>
          <a:xfrm>
            <a:off x="3611880" y="446227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proposes. The user reviews, edits, and approves.</a:t>
            </a:r>
            <a:endParaRPr lang="en-US" sz="670" dirty="0"/>
          </a:p>
        </p:txBody>
      </p:sp>
      <p:sp>
        <p:nvSpPr>
          <p:cNvPr id="54" name="Shape 52"/>
          <p:cNvSpPr/>
          <p:nvPr/>
        </p:nvSpPr>
        <p:spPr>
          <a:xfrm>
            <a:off x="6144768" y="4279392"/>
            <a:ext cx="109728" cy="109728"/>
          </a:xfrm>
          <a:prstGeom prst="ellipse">
            <a:avLst/>
          </a:prstGeom>
          <a:solidFill>
            <a:srgbClr val="3E7BEF"/>
          </a:solidFill>
          <a:ln w="12700">
            <a:solidFill>
              <a:srgbClr val="3E7B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9360" y="4242816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Evidence-led</a:t>
            </a:r>
            <a:endParaRPr lang="en-US" sz="840" dirty="0"/>
          </a:p>
        </p:txBody>
      </p:sp>
      <p:sp>
        <p:nvSpPr>
          <p:cNvPr id="56" name="Text 54"/>
          <p:cNvSpPr/>
          <p:nvPr/>
        </p:nvSpPr>
        <p:spPr>
          <a:xfrm>
            <a:off x="6309360" y="446227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files are backed by repo index, code signals, and runtime context.</a:t>
            </a:r>
            <a:endParaRPr lang="en-US" sz="670" dirty="0"/>
          </a:p>
        </p:txBody>
      </p:sp>
      <p:sp>
        <p:nvSpPr>
          <p:cNvPr id="57" name="Shape 55"/>
          <p:cNvSpPr/>
          <p:nvPr/>
        </p:nvSpPr>
        <p:spPr>
          <a:xfrm>
            <a:off x="8842248" y="4279392"/>
            <a:ext cx="109728" cy="109728"/>
          </a:xfrm>
          <a:prstGeom prst="ellipse">
            <a:avLst/>
          </a:prstGeom>
          <a:solidFill>
            <a:srgbClr val="E9952F"/>
          </a:solidFill>
          <a:ln w="12700">
            <a:solidFill>
              <a:srgbClr val="E9952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006840" y="4242816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Recoverable</a:t>
            </a:r>
            <a:endParaRPr lang="en-US" sz="840" dirty="0"/>
          </a:p>
        </p:txBody>
      </p:sp>
      <p:sp>
        <p:nvSpPr>
          <p:cNvPr id="59" name="Text 57"/>
          <p:cNvSpPr/>
          <p:nvPr/>
        </p:nvSpPr>
        <p:spPr>
          <a:xfrm>
            <a:off x="9006840" y="446227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 generations are rejected, logged, and converted into retry guidance.</a:t>
            </a:r>
            <a:endParaRPr lang="en-US" sz="670" dirty="0"/>
          </a:p>
        </p:txBody>
      </p:sp>
      <p:sp>
        <p:nvSpPr>
          <p:cNvPr id="60" name="Shape 58"/>
          <p:cNvSpPr/>
          <p:nvPr/>
        </p:nvSpPr>
        <p:spPr>
          <a:xfrm>
            <a:off x="502920" y="5440680"/>
            <a:ext cx="11064240" cy="621792"/>
          </a:xfrm>
          <a:prstGeom prst="roundRect">
            <a:avLst/>
          </a:prstGeom>
          <a:solidFill>
            <a:srgbClr val="142235"/>
          </a:solidFill>
          <a:ln w="10160">
            <a:solidFill>
              <a:srgbClr val="14223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9224" y="5577840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success signal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49224" y="5843016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E9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audience sees the app reason over an issue, select context, produce a reviewable patch, explain the run, and keep GitHub untouched until approval.</a:t>
            </a:r>
            <a:endParaRPr lang="en-US" sz="680" dirty="0"/>
          </a:p>
        </p:txBody>
      </p:sp>
      <p:sp>
        <p:nvSpPr>
          <p:cNvPr id="63" name="Text 61"/>
          <p:cNvSpPr/>
          <p:nvPr/>
        </p:nvSpPr>
        <p:spPr>
          <a:xfrm>
            <a:off x="256032" y="6556248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75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CTO demo</a:t>
            </a:r>
            <a:endParaRPr lang="en-US" sz="680" dirty="0"/>
          </a:p>
        </p:txBody>
      </p:sp>
      <p:sp>
        <p:nvSpPr>
          <p:cNvPr id="64" name="Text 62"/>
          <p:cNvSpPr/>
          <p:nvPr/>
        </p:nvSpPr>
        <p:spPr>
          <a:xfrm>
            <a:off x="11631168" y="6556248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75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6459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AI Actually Adds Leverage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880" y="621792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is valuable because AI changes the cost and quality curve of small engineering work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280160"/>
            <a:ext cx="3154680" cy="1234440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280160"/>
            <a:ext cx="54864" cy="1234440"/>
          </a:xfrm>
          <a:prstGeom prst="rect">
            <a:avLst/>
          </a:prstGeom>
          <a:solidFill>
            <a:srgbClr val="3E7BEF"/>
          </a:solidFill>
          <a:ln w="12700">
            <a:solidFill>
              <a:srgbClr val="3E7B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" y="1417320"/>
            <a:ext cx="2898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Discovery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740664" y="1682496"/>
            <a:ext cx="28803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Finds the files a human would search for manually.</a:t>
            </a:r>
            <a:endParaRPr lang="en-US" sz="690" dirty="0"/>
          </a:p>
          <a:p>
            <a:pPr algn="l" indent="0" marL="0">
              <a:buNone/>
            </a:pPr>
            <a:r>
              <a:rPr lang="en-US" sz="69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Signals: routes, templates, imports, styles, config, tests.</a:t>
            </a:r>
            <a:endParaRPr lang="en-US" sz="690" dirty="0"/>
          </a:p>
          <a:p>
            <a:pPr algn="l" indent="0" marL="0">
              <a:buNone/>
            </a:pPr>
            <a:r>
              <a:rPr lang="en-US" sz="69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smaller context pack, fewer missed dependencies.</a:t>
            </a:r>
            <a:endParaRPr lang="en-US" sz="690" dirty="0"/>
          </a:p>
        </p:txBody>
      </p:sp>
      <p:sp>
        <p:nvSpPr>
          <p:cNvPr id="9" name="Shape 7"/>
          <p:cNvSpPr/>
          <p:nvPr/>
        </p:nvSpPr>
        <p:spPr>
          <a:xfrm>
            <a:off x="4343400" y="1280160"/>
            <a:ext cx="3154680" cy="1234440"/>
          </a:xfrm>
          <a:prstGeom prst="roundRect">
            <a:avLst/>
          </a:prstGeom>
          <a:solidFill>
            <a:srgbClr val="E8F6F4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280160"/>
            <a:ext cx="54864" cy="1234440"/>
          </a:xfrm>
          <a:prstGeom prst="rect">
            <a:avLst/>
          </a:prstGeom>
          <a:solidFill>
            <a:srgbClr val="18B7AD"/>
          </a:solidFill>
          <a:ln w="12700">
            <a:solidFill>
              <a:srgbClr val="18B7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9704" y="1417320"/>
            <a:ext cx="2898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Root-Cause Planning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4489704" y="1682496"/>
            <a:ext cx="28803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Turns a vague issue into an implementation hypothesis.</a:t>
            </a:r>
            <a:endParaRPr lang="en-US" sz="690" dirty="0"/>
          </a:p>
          <a:p>
            <a:pPr algn="l" indent="0" marL="0">
              <a:buNone/>
            </a:pPr>
            <a:r>
              <a:rPr lang="en-US" sz="69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selected files, logs, git state, and prior failures.</a:t>
            </a:r>
            <a:endParaRPr lang="en-US" sz="690" dirty="0"/>
          </a:p>
          <a:p>
            <a:pPr algn="l" indent="0" marL="0">
              <a:buNone/>
            </a:pPr>
            <a:r>
              <a:rPr lang="en-US" sz="69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an edit plan before Aider starts changing code.</a:t>
            </a:r>
            <a:endParaRPr lang="en-US" sz="690" dirty="0"/>
          </a:p>
        </p:txBody>
      </p:sp>
      <p:sp>
        <p:nvSpPr>
          <p:cNvPr id="13" name="Shape 11"/>
          <p:cNvSpPr/>
          <p:nvPr/>
        </p:nvSpPr>
        <p:spPr>
          <a:xfrm>
            <a:off x="8092440" y="1280160"/>
            <a:ext cx="3154680" cy="1234440"/>
          </a:xfrm>
          <a:prstGeom prst="roundRect">
            <a:avLst/>
          </a:prstGeom>
          <a:solidFill>
            <a:srgbClr val="FFF4E4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280160"/>
            <a:ext cx="54864" cy="1234440"/>
          </a:xfrm>
          <a:prstGeom prst="rect">
            <a:avLst/>
          </a:prstGeom>
          <a:solidFill>
            <a:srgbClr val="E9952F"/>
          </a:solidFill>
          <a:ln w="12700">
            <a:solidFill>
              <a:srgbClr val="E995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8744" y="1417320"/>
            <a:ext cx="2898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Targeted Code Drafting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8238744" y="1682496"/>
            <a:ext cx="28803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Aider edits in an isolated clone with strict file context.</a:t>
            </a:r>
            <a:endParaRPr lang="en-US" sz="690" dirty="0"/>
          </a:p>
          <a:p>
            <a:pPr algn="l" indent="0" marL="0">
              <a:buNone/>
            </a:pPr>
            <a:r>
              <a:rPr lang="en-US" sz="69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captures normal git diff output.</a:t>
            </a:r>
            <a:endParaRPr lang="en-US" sz="690" dirty="0"/>
          </a:p>
          <a:p>
            <a:pPr algn="l" indent="0" marL="0">
              <a:buNone/>
            </a:pPr>
            <a:r>
              <a:rPr lang="en-US" sz="69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reviewable changes instead of opaque generated text.</a:t>
            </a:r>
            <a:endParaRPr lang="en-US" sz="690" dirty="0"/>
          </a:p>
        </p:txBody>
      </p:sp>
      <p:sp>
        <p:nvSpPr>
          <p:cNvPr id="17" name="Shape 15"/>
          <p:cNvSpPr/>
          <p:nvPr/>
        </p:nvSpPr>
        <p:spPr>
          <a:xfrm>
            <a:off x="594360" y="2971800"/>
            <a:ext cx="3154680" cy="1234440"/>
          </a:xfrm>
          <a:prstGeom prst="roundRect">
            <a:avLst/>
          </a:prstGeom>
          <a:solidFill>
            <a:srgbClr val="F0EF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2971800"/>
            <a:ext cx="54864" cy="123444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" y="3108960"/>
            <a:ext cx="2898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Review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740664" y="3374136"/>
            <a:ext cx="28803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second agent compares issue intent against the patch.</a:t>
            </a:r>
            <a:endParaRPr lang="en-US" sz="690" dirty="0"/>
          </a:p>
          <a:p>
            <a:pPr algn="l" indent="0" marL="0">
              <a:buNone/>
            </a:pPr>
            <a:r>
              <a:rPr lang="en-US" sz="69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looks for missed routes, nested forms, state conflicts, and UI gaps.</a:t>
            </a:r>
            <a:endParaRPr lang="en-US" sz="690" dirty="0"/>
          </a:p>
          <a:p>
            <a:pPr algn="l" indent="0" marL="0">
              <a:buNone/>
            </a:pPr>
            <a:r>
              <a:rPr lang="en-US" sz="69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reject, retry, or approve-for-review.</a:t>
            </a:r>
            <a:endParaRPr lang="en-US" sz="690" dirty="0"/>
          </a:p>
        </p:txBody>
      </p:sp>
      <p:sp>
        <p:nvSpPr>
          <p:cNvPr id="21" name="Shape 19"/>
          <p:cNvSpPr/>
          <p:nvPr/>
        </p:nvSpPr>
        <p:spPr>
          <a:xfrm>
            <a:off x="4343400" y="2971800"/>
            <a:ext cx="3154680" cy="1234440"/>
          </a:xfrm>
          <a:prstGeom prst="roundRect">
            <a:avLst/>
          </a:prstGeom>
          <a:solidFill>
            <a:srgbClr val="E9F6E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43400" y="2971800"/>
            <a:ext cx="54864" cy="1234440"/>
          </a:xfrm>
          <a:prstGeom prst="rect">
            <a:avLst/>
          </a:prstGeom>
          <a:solidFill>
            <a:srgbClr val="16845D"/>
          </a:solidFill>
          <a:ln w="12700">
            <a:solidFill>
              <a:srgbClr val="16845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9704" y="3108960"/>
            <a:ext cx="2898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Loop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4489704" y="3374136"/>
            <a:ext cx="28803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Failures become memory: what was missed and why.</a:t>
            </a:r>
            <a:endParaRPr lang="en-US" sz="690" dirty="0"/>
          </a:p>
          <a:p>
            <a:pPr algn="l" indent="0" marL="0">
              <a:buNone/>
            </a:pPr>
            <a:r>
              <a:rPr lang="en-US" sz="69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runs receive lessons plus repo observations.</a:t>
            </a:r>
            <a:endParaRPr lang="en-US" sz="690" dirty="0"/>
          </a:p>
          <a:p>
            <a:pPr algn="l" indent="0" marL="0">
              <a:buNone/>
            </a:pPr>
            <a:r>
              <a:rPr lang="en-US" sz="69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fewer repeated mistakes across similar issues.</a:t>
            </a:r>
            <a:endParaRPr lang="en-US" sz="690" dirty="0"/>
          </a:p>
        </p:txBody>
      </p:sp>
      <p:sp>
        <p:nvSpPr>
          <p:cNvPr id="25" name="Shape 23"/>
          <p:cNvSpPr/>
          <p:nvPr/>
        </p:nvSpPr>
        <p:spPr>
          <a:xfrm>
            <a:off x="8092440" y="2971800"/>
            <a:ext cx="3154680" cy="1234440"/>
          </a:xfrm>
          <a:prstGeom prst="roundRect">
            <a:avLst/>
          </a:prstGeom>
          <a:solidFill>
            <a:srgbClr val="F8F9FC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92440" y="2971800"/>
            <a:ext cx="54864" cy="1234440"/>
          </a:xfrm>
          <a:prstGeom prst="rect">
            <a:avLst/>
          </a:prstGeom>
          <a:solidFill>
            <a:srgbClr val="203149"/>
          </a:solidFill>
          <a:ln w="12700">
            <a:solidFill>
              <a:srgbClr val="2031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38744" y="3108960"/>
            <a:ext cx="2898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 Experience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8238744" y="3374136"/>
            <a:ext cx="28803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user sees diff, summary, test plan, warnings, and run trace.</a:t>
            </a:r>
            <a:endParaRPr lang="en-US" sz="690" dirty="0"/>
          </a:p>
          <a:p>
            <a:pPr algn="l" indent="0" marL="0">
              <a:buNone/>
            </a:pPr>
            <a:r>
              <a:rPr lang="en-US" sz="69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file content remains editable.</a:t>
            </a:r>
            <a:endParaRPr lang="en-US" sz="690" dirty="0"/>
          </a:p>
          <a:p>
            <a:pPr algn="l" indent="0" marL="0">
              <a:buNone/>
            </a:pPr>
            <a:r>
              <a:rPr lang="en-US" sz="69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GitHub PR only after deliberate approval.</a:t>
            </a:r>
            <a:endParaRPr lang="en-US" sz="690" dirty="0"/>
          </a:p>
        </p:txBody>
      </p:sp>
      <p:sp>
        <p:nvSpPr>
          <p:cNvPr id="29" name="Shape 27"/>
          <p:cNvSpPr/>
          <p:nvPr/>
        </p:nvSpPr>
        <p:spPr>
          <a:xfrm>
            <a:off x="594360" y="4983480"/>
            <a:ext cx="10972800" cy="8412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5DE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2303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 effect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1920240" y="5202936"/>
            <a:ext cx="9006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Engineers spend less time finding context and writing first-pass fixes, while reviewers retain control over quality and release risk.</a:t>
            </a:r>
            <a:endParaRPr lang="en-US" sz="860" dirty="0"/>
          </a:p>
        </p:txBody>
      </p:sp>
      <p:sp>
        <p:nvSpPr>
          <p:cNvPr id="32" name="Text 30"/>
          <p:cNvSpPr/>
          <p:nvPr/>
        </p:nvSpPr>
        <p:spPr>
          <a:xfrm>
            <a:off x="256032" y="6556248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75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CTO demo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11631168" y="6556248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75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6459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Safety Model: Fast Suggestions, Slow Approval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880" y="621792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architecture is designed so AI can move quickly without directly changing production code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55680" cy="3977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5DE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481328"/>
            <a:ext cx="292608" cy="292608"/>
          </a:xfrm>
          <a:prstGeom prst="ellipse">
            <a:avLst/>
          </a:prstGeom>
          <a:solidFill>
            <a:srgbClr val="3E7BEF"/>
          </a:solidFill>
          <a:ln w="12700">
            <a:solidFill>
              <a:srgbClr val="3E7B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55448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261872" y="147218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Isolated Workspace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1261872" y="1682496"/>
            <a:ext cx="4206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Aider edits a cloned branch, not the working app directly.</a:t>
            </a:r>
            <a:endParaRPr lang="en-US" sz="690" dirty="0"/>
          </a:p>
        </p:txBody>
      </p:sp>
      <p:sp>
        <p:nvSpPr>
          <p:cNvPr id="10" name="Shape 8"/>
          <p:cNvSpPr/>
          <p:nvPr/>
        </p:nvSpPr>
        <p:spPr>
          <a:xfrm>
            <a:off x="822960" y="2267712"/>
            <a:ext cx="292608" cy="292608"/>
          </a:xfrm>
          <a:prstGeom prst="ellipse">
            <a:avLst/>
          </a:prstGeom>
          <a:solidFill>
            <a:srgbClr val="18B7AD"/>
          </a:solidFill>
          <a:ln w="12700">
            <a:solidFill>
              <a:srgbClr val="18B7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" y="2340864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261872" y="225856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Validators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1261872" y="2468880"/>
            <a:ext cx="4206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AST, JSON, Jinja, JS, Java, conflict markers, and risky generated patterns.</a:t>
            </a:r>
            <a:endParaRPr lang="en-US" sz="690" dirty="0"/>
          </a:p>
        </p:txBody>
      </p:sp>
      <p:sp>
        <p:nvSpPr>
          <p:cNvPr id="14" name="Shape 12"/>
          <p:cNvSpPr/>
          <p:nvPr/>
        </p:nvSpPr>
        <p:spPr>
          <a:xfrm>
            <a:off x="822960" y="3054096"/>
            <a:ext cx="292608" cy="29260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3127248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261872" y="30449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Reviewer Gate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1261872" y="3255264"/>
            <a:ext cx="4206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second model checks issue alignment, missed files, nested forms, state ownership, and UI behavior.</a:t>
            </a:r>
            <a:endParaRPr lang="en-US" sz="690" dirty="0"/>
          </a:p>
        </p:txBody>
      </p:sp>
      <p:sp>
        <p:nvSpPr>
          <p:cNvPr id="18" name="Shape 16"/>
          <p:cNvSpPr/>
          <p:nvPr/>
        </p:nvSpPr>
        <p:spPr>
          <a:xfrm>
            <a:off x="822960" y="3840480"/>
            <a:ext cx="292608" cy="292608"/>
          </a:xfrm>
          <a:prstGeom prst="ellipse">
            <a:avLst/>
          </a:prstGeom>
          <a:solidFill>
            <a:srgbClr val="16845D"/>
          </a:solidFill>
          <a:ln w="12700">
            <a:solidFill>
              <a:srgbClr val="1684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" y="3913632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261872" y="383133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Approval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1261872" y="4041648"/>
            <a:ext cx="4206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 creation is a deliberate final action after reviewing generated content.</a:t>
            </a:r>
            <a:endParaRPr lang="en-US" sz="690" dirty="0"/>
          </a:p>
        </p:txBody>
      </p:sp>
      <p:sp>
        <p:nvSpPr>
          <p:cNvPr id="22" name="Shape 20"/>
          <p:cNvSpPr/>
          <p:nvPr/>
        </p:nvSpPr>
        <p:spPr>
          <a:xfrm>
            <a:off x="6537960" y="1417320"/>
            <a:ext cx="4526280" cy="1005840"/>
          </a:xfrm>
          <a:prstGeom prst="roundRect">
            <a:avLst/>
          </a:prstGeom>
          <a:solidFill>
            <a:srgbClr val="E9F6EF"/>
          </a:solidFill>
          <a:ln w="10160">
            <a:solidFill>
              <a:srgbClr val="BFE6D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37960" y="1417320"/>
            <a:ext cx="54864" cy="1005840"/>
          </a:xfrm>
          <a:prstGeom prst="rect">
            <a:avLst/>
          </a:prstGeom>
          <a:solidFill>
            <a:srgbClr val="16845D"/>
          </a:solidFill>
          <a:ln w="12700">
            <a:solidFill>
              <a:srgbClr val="1684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84264" y="1554480"/>
            <a:ext cx="4270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path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84264" y="1819656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 evidence → patch → validators pass → reviewer accepts → proposal page → user approves → GitHub PR</a:t>
            </a:r>
            <a:endParaRPr lang="en-US" sz="710" dirty="0"/>
          </a:p>
        </p:txBody>
      </p:sp>
      <p:sp>
        <p:nvSpPr>
          <p:cNvPr id="26" name="Shape 24"/>
          <p:cNvSpPr/>
          <p:nvPr/>
        </p:nvSpPr>
        <p:spPr>
          <a:xfrm>
            <a:off x="6537960" y="2743200"/>
            <a:ext cx="4526280" cy="1005840"/>
          </a:xfrm>
          <a:prstGeom prst="roundRect">
            <a:avLst/>
          </a:prstGeom>
          <a:solidFill>
            <a:srgbClr val="FCEEEE"/>
          </a:solidFill>
          <a:ln w="10160">
            <a:solidFill>
              <a:srgbClr val="F1C7C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37960" y="2743200"/>
            <a:ext cx="54864" cy="1005840"/>
          </a:xfrm>
          <a:prstGeom prst="rect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84264" y="2880360"/>
            <a:ext cx="4270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 path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84264" y="3145536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 or reviewer rejects → visible log → targeted retry guidance → Aider gets corrected context</a:t>
            </a:r>
            <a:endParaRPr lang="en-US" sz="710" dirty="0"/>
          </a:p>
        </p:txBody>
      </p:sp>
      <p:sp>
        <p:nvSpPr>
          <p:cNvPr id="30" name="Shape 28"/>
          <p:cNvSpPr/>
          <p:nvPr/>
        </p:nvSpPr>
        <p:spPr>
          <a:xfrm>
            <a:off x="8778240" y="2423160"/>
            <a:ext cx="9144" cy="320040"/>
          </a:xfrm>
          <a:prstGeom prst="line">
            <a:avLst/>
          </a:prstGeom>
          <a:noFill/>
          <a:ln w="13970">
            <a:solidFill>
              <a:srgbClr val="D95D5D"/>
            </a:solidFill>
            <a:prstDash val="dash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440680" y="3749040"/>
            <a:ext cx="1097280" cy="9144"/>
          </a:xfrm>
          <a:prstGeom prst="line">
            <a:avLst/>
          </a:prstGeom>
          <a:noFill/>
          <a:ln w="13970">
            <a:solidFill>
              <a:srgbClr val="D95D5D"/>
            </a:solidFill>
            <a:prstDash val="dash"/>
            <a:headEnd type="triangle"/>
          </a:ln>
        </p:spPr>
      </p:sp>
      <p:sp>
        <p:nvSpPr>
          <p:cNvPr id="32" name="Text 30"/>
          <p:cNvSpPr/>
          <p:nvPr/>
        </p:nvSpPr>
        <p:spPr>
          <a:xfrm>
            <a:off x="5897880" y="449884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loop is intentional: bad output is evidence, not a silent failure.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02920" y="5532120"/>
            <a:ext cx="11155680" cy="530352"/>
          </a:xfrm>
          <a:prstGeom prst="roundRect">
            <a:avLst/>
          </a:prstGeom>
          <a:solidFill>
            <a:srgbClr val="142235"/>
          </a:solidFill>
          <a:ln w="10160">
            <a:solidFill>
              <a:srgbClr val="1422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" y="5669280"/>
            <a:ext cx="10899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principle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649224" y="5934456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E9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AI accelerate discovery and draft work; keep irreversible repository actions behind deterministic checks and explicit human approval.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56032" y="6556248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75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CTO demo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11631168" y="6556248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75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6459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Value and Rollout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880" y="621792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can move from demo to real engineering support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234440"/>
            <a:ext cx="457200" cy="457200"/>
          </a:xfrm>
          <a:prstGeom prst="roundRect">
            <a:avLst/>
          </a:prstGeom>
          <a:solidFill>
            <a:srgbClr val="3E7BEF"/>
          </a:solidFill>
          <a:ln w="12700">
            <a:solidFill>
              <a:srgbClr val="3E7B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80744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298448" y="126187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Meaningful Pain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71800" y="1271016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bugs and UI fixes consume disproportionate engineering time because context discovery is slow.</a:t>
            </a:r>
            <a:endParaRPr lang="en-US" sz="770" dirty="0"/>
          </a:p>
        </p:txBody>
      </p:sp>
      <p:sp>
        <p:nvSpPr>
          <p:cNvPr id="9" name="Shape 7"/>
          <p:cNvSpPr/>
          <p:nvPr/>
        </p:nvSpPr>
        <p:spPr>
          <a:xfrm>
            <a:off x="658368" y="2002536"/>
            <a:ext cx="457200" cy="457200"/>
          </a:xfrm>
          <a:prstGeom prst="roundRect">
            <a:avLst/>
          </a:prstGeom>
          <a:solidFill>
            <a:srgbClr val="18B7AD"/>
          </a:solidFill>
          <a:ln w="12700">
            <a:solidFill>
              <a:srgbClr val="18B7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148840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298448" y="202996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Outcomes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71800" y="203911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handles repo search, first-pass implementation, and review hints while people keep final judgment.</a:t>
            </a:r>
            <a:endParaRPr lang="en-US" sz="770" dirty="0"/>
          </a:p>
        </p:txBody>
      </p:sp>
      <p:sp>
        <p:nvSpPr>
          <p:cNvPr id="13" name="Shape 11"/>
          <p:cNvSpPr/>
          <p:nvPr/>
        </p:nvSpPr>
        <p:spPr>
          <a:xfrm>
            <a:off x="658368" y="2770632"/>
            <a:ext cx="457200" cy="457200"/>
          </a:xfrm>
          <a:prstGeom prst="roundRect">
            <a:avLst/>
          </a:prstGeom>
          <a:solidFill>
            <a:srgbClr val="E9952F"/>
          </a:solidFill>
          <a:ln w="12700">
            <a:solidFill>
              <a:srgbClr val="E995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916936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298448" y="279806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Measurable Payoff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71800" y="280720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Shorter cycle time, cleaner handoffs, fewer missed dependent files, and a stronger review trail.</a:t>
            </a:r>
            <a:endParaRPr lang="en-US" sz="770" dirty="0"/>
          </a:p>
        </p:txBody>
      </p:sp>
      <p:sp>
        <p:nvSpPr>
          <p:cNvPr id="17" name="Shape 15"/>
          <p:cNvSpPr/>
          <p:nvPr/>
        </p:nvSpPr>
        <p:spPr>
          <a:xfrm>
            <a:off x="658368" y="3538728"/>
            <a:ext cx="457200" cy="457200"/>
          </a:xfrm>
          <a:prstGeom prst="round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685032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298448" y="356616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Feasible Build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71800" y="3575304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Flask, GitHub API, local index, Aider CLI, validators, and review gates already wired together.</a:t>
            </a:r>
            <a:endParaRPr lang="en-US" sz="770" dirty="0"/>
          </a:p>
        </p:txBody>
      </p:sp>
      <p:sp>
        <p:nvSpPr>
          <p:cNvPr id="21" name="Shape 19"/>
          <p:cNvSpPr/>
          <p:nvPr/>
        </p:nvSpPr>
        <p:spPr>
          <a:xfrm>
            <a:off x="658368" y="4306824"/>
            <a:ext cx="457200" cy="457200"/>
          </a:xfrm>
          <a:prstGeom prst="roundRect">
            <a:avLst/>
          </a:prstGeom>
          <a:solidFill>
            <a:srgbClr val="16845D"/>
          </a:solidFill>
          <a:ln w="12700">
            <a:solidFill>
              <a:srgbClr val="16845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453128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298448" y="433425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Adoption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71800" y="43434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 with normal GitHub issues and PR review habits; can start repo-by-repo with narrow scopes.</a:t>
            </a:r>
            <a:endParaRPr lang="en-US" sz="770" dirty="0"/>
          </a:p>
        </p:txBody>
      </p:sp>
      <p:sp>
        <p:nvSpPr>
          <p:cNvPr id="25" name="Shape 23"/>
          <p:cNvSpPr/>
          <p:nvPr/>
        </p:nvSpPr>
        <p:spPr>
          <a:xfrm>
            <a:off x="8183880" y="1097280"/>
            <a:ext cx="3154680" cy="4251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5DE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58200" y="13533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talk track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8458200" y="1783080"/>
            <a:ext cx="109728" cy="109728"/>
          </a:xfrm>
          <a:prstGeom prst="ellipse">
            <a:avLst/>
          </a:prstGeom>
          <a:solidFill>
            <a:srgbClr val="3E7BEF"/>
          </a:solidFill>
          <a:ln w="12700">
            <a:solidFill>
              <a:srgbClr val="3E7B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68512" y="1746504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Show a normal issue</a:t>
            </a:r>
            <a:endParaRPr lang="en-US" sz="770" dirty="0"/>
          </a:p>
        </p:txBody>
      </p:sp>
      <p:sp>
        <p:nvSpPr>
          <p:cNvPr id="29" name="Shape 27"/>
          <p:cNvSpPr/>
          <p:nvPr/>
        </p:nvSpPr>
        <p:spPr>
          <a:xfrm>
            <a:off x="8458200" y="2221992"/>
            <a:ext cx="109728" cy="109728"/>
          </a:xfrm>
          <a:prstGeom prst="ellipse">
            <a:avLst/>
          </a:prstGeom>
          <a:solidFill>
            <a:srgbClr val="18B7AD"/>
          </a:solidFill>
          <a:ln w="12700">
            <a:solidFill>
              <a:srgbClr val="18B7A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68512" y="2185416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Show selected files + evidence</a:t>
            </a:r>
            <a:endParaRPr lang="en-US" sz="770" dirty="0"/>
          </a:p>
        </p:txBody>
      </p:sp>
      <p:sp>
        <p:nvSpPr>
          <p:cNvPr id="31" name="Shape 29"/>
          <p:cNvSpPr/>
          <p:nvPr/>
        </p:nvSpPr>
        <p:spPr>
          <a:xfrm>
            <a:off x="8458200" y="2660904"/>
            <a:ext cx="109728" cy="109728"/>
          </a:xfrm>
          <a:prstGeom prst="ellipse">
            <a:avLst/>
          </a:prstGeom>
          <a:solidFill>
            <a:srgbClr val="E9952F"/>
          </a:solidFill>
          <a:ln w="12700">
            <a:solidFill>
              <a:srgbClr val="E9952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68512" y="2624328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Run Aider and watch status</a:t>
            </a:r>
            <a:endParaRPr lang="en-US" sz="770" dirty="0"/>
          </a:p>
        </p:txBody>
      </p:sp>
      <p:sp>
        <p:nvSpPr>
          <p:cNvPr id="33" name="Shape 31"/>
          <p:cNvSpPr/>
          <p:nvPr/>
        </p:nvSpPr>
        <p:spPr>
          <a:xfrm>
            <a:off x="8458200" y="3099816"/>
            <a:ext cx="109728" cy="10972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68512" y="3063240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Review diff, warnings, logs</a:t>
            </a:r>
            <a:endParaRPr lang="en-US" sz="770" dirty="0"/>
          </a:p>
        </p:txBody>
      </p:sp>
      <p:sp>
        <p:nvSpPr>
          <p:cNvPr id="35" name="Shape 33"/>
          <p:cNvSpPr/>
          <p:nvPr/>
        </p:nvSpPr>
        <p:spPr>
          <a:xfrm>
            <a:off x="8458200" y="3538728"/>
            <a:ext cx="109728" cy="109728"/>
          </a:xfrm>
          <a:prstGeom prst="ellipse">
            <a:avLst/>
          </a:prstGeom>
          <a:solidFill>
            <a:srgbClr val="16845D"/>
          </a:solidFill>
          <a:ln w="12700">
            <a:solidFill>
              <a:srgbClr val="16845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68512" y="3502152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Approve only if patch is sane</a:t>
            </a:r>
            <a:endParaRPr lang="en-US" sz="770" dirty="0"/>
          </a:p>
        </p:txBody>
      </p:sp>
      <p:sp>
        <p:nvSpPr>
          <p:cNvPr id="37" name="Shape 35"/>
          <p:cNvSpPr/>
          <p:nvPr/>
        </p:nvSpPr>
        <p:spPr>
          <a:xfrm>
            <a:off x="8458200" y="4343400"/>
            <a:ext cx="2331720" cy="502920"/>
          </a:xfrm>
          <a:prstGeom prst="roundRect">
            <a:avLst/>
          </a:prstGeom>
          <a:solidFill>
            <a:srgbClr val="E8F6F4"/>
          </a:solidFill>
          <a:ln w="10160">
            <a:solidFill>
              <a:srgbClr val="BFE6D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04504" y="4480560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with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604504" y="474573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06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assistant for repo-aware delivery, not an auto-merge bot.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256032" y="6556248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75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CTO demo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11631168" y="6556248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75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GitHub CTO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CTO Demo</dc:title>
  <dc:subject>Agentic SDLC demo</dc:subject>
  <dc:creator>GitHub CTO</dc:creator>
  <cp:lastModifiedBy>GitHub CTO</cp:lastModifiedBy>
  <cp:revision>1</cp:revision>
  <dcterms:created xsi:type="dcterms:W3CDTF">2026-06-01T11:37:55Z</dcterms:created>
  <dcterms:modified xsi:type="dcterms:W3CDTF">2026-06-01T11:37:55Z</dcterms:modified>
</cp:coreProperties>
</file>